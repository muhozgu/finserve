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ink/ink2.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7B2BFF-DA53-4497-B12B-30D8E38AA959}" v="670" dt="2026-03-24T02:02:17.134"/>
    <p1510:client id="{1E49A96B-61F4-4488-8074-DED1994718E9}" v="185" dt="2026-03-24T02:22:17.641"/>
    <p1510:client id="{D468B37A-7FB3-4325-952D-C9FC4FBB3AD2}" v="86" dt="2026-03-24T02:13:13.002"/>
    <p1510:client id="{D7A52B24-1CBB-4D5B-81C4-B744FC71CA9A}" v="433" dt="2026-03-23T22:23:20.0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65B87A-9D03-483F-A286-4079A90E9153}"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51DBF2E1-97ED-4076-AEC7-7458A95E396C}">
      <dgm:prSet/>
      <dgm:spPr/>
      <dgm:t>
        <a:bodyPr/>
        <a:lstStyle/>
        <a:p>
          <a:pPr>
            <a:lnSpc>
              <a:spcPct val="100000"/>
            </a:lnSpc>
          </a:pPr>
          <a:r>
            <a:rPr lang="en-US"/>
            <a:t>01 Problem 1 – Manual Credit Memo  &amp; Proposal Generation</a:t>
          </a:r>
        </a:p>
      </dgm:t>
    </dgm:pt>
    <dgm:pt modelId="{0AB8EA20-7B0C-4548-9232-A1805F1731BE}" type="parTrans" cxnId="{D58E741A-686D-45B4-9907-4809C94E98E9}">
      <dgm:prSet/>
      <dgm:spPr/>
      <dgm:t>
        <a:bodyPr/>
        <a:lstStyle/>
        <a:p>
          <a:endParaRPr lang="en-US"/>
        </a:p>
      </dgm:t>
    </dgm:pt>
    <dgm:pt modelId="{BF912BF0-E056-4DF3-BCE9-730CF9914ACF}" type="sibTrans" cxnId="{D58E741A-686D-45B4-9907-4809C94E98E9}">
      <dgm:prSet/>
      <dgm:spPr/>
      <dgm:t>
        <a:bodyPr/>
        <a:lstStyle/>
        <a:p>
          <a:pPr>
            <a:lnSpc>
              <a:spcPct val="100000"/>
            </a:lnSpc>
          </a:pPr>
          <a:endParaRPr lang="en-US"/>
        </a:p>
      </dgm:t>
    </dgm:pt>
    <dgm:pt modelId="{337892E2-0C1E-4616-AB36-AA164C006721}">
      <dgm:prSet/>
      <dgm:spPr/>
      <dgm:t>
        <a:bodyPr/>
        <a:lstStyle/>
        <a:p>
          <a:pPr>
            <a:lnSpc>
              <a:spcPct val="100000"/>
            </a:lnSpc>
          </a:pPr>
          <a:r>
            <a:rPr lang="en-US"/>
            <a:t>02 Problem 2 – Unstructured Support Ticket Handling</a:t>
          </a:r>
        </a:p>
      </dgm:t>
    </dgm:pt>
    <dgm:pt modelId="{724E54F2-7646-4919-8366-CCA6BF95DA06}" type="parTrans" cxnId="{61949A3D-F769-4B69-8E5D-C0A813C22208}">
      <dgm:prSet/>
      <dgm:spPr/>
      <dgm:t>
        <a:bodyPr/>
        <a:lstStyle/>
        <a:p>
          <a:endParaRPr lang="en-US"/>
        </a:p>
      </dgm:t>
    </dgm:pt>
    <dgm:pt modelId="{4C88FC5A-3075-43A6-9122-5A641ACAB4B4}" type="sibTrans" cxnId="{61949A3D-F769-4B69-8E5D-C0A813C22208}">
      <dgm:prSet/>
      <dgm:spPr/>
      <dgm:t>
        <a:bodyPr/>
        <a:lstStyle/>
        <a:p>
          <a:pPr>
            <a:lnSpc>
              <a:spcPct val="100000"/>
            </a:lnSpc>
          </a:pPr>
          <a:endParaRPr lang="en-US"/>
        </a:p>
      </dgm:t>
    </dgm:pt>
    <dgm:pt modelId="{E4CAEFC3-8765-4382-A7B0-9B3CEEA5DA25}">
      <dgm:prSet/>
      <dgm:spPr/>
      <dgm:t>
        <a:bodyPr/>
        <a:lstStyle/>
        <a:p>
          <a:pPr>
            <a:lnSpc>
              <a:spcPct val="100000"/>
            </a:lnSpc>
          </a:pPr>
          <a:r>
            <a:rPr lang="en-US"/>
            <a:t>03 Problem 3 – Manual Reporting &amp; Data Consolidating</a:t>
          </a:r>
        </a:p>
      </dgm:t>
    </dgm:pt>
    <dgm:pt modelId="{FC311E8F-C14D-4E11-A6EF-B1A078973DE5}" type="parTrans" cxnId="{71DFF9E6-40FC-4088-838B-AEC53C41E85A}">
      <dgm:prSet/>
      <dgm:spPr/>
      <dgm:t>
        <a:bodyPr/>
        <a:lstStyle/>
        <a:p>
          <a:endParaRPr lang="en-US"/>
        </a:p>
      </dgm:t>
    </dgm:pt>
    <dgm:pt modelId="{4824F26B-CBA4-46ED-84F1-08782CF89EE1}" type="sibTrans" cxnId="{71DFF9E6-40FC-4088-838B-AEC53C41E85A}">
      <dgm:prSet/>
      <dgm:spPr/>
      <dgm:t>
        <a:bodyPr/>
        <a:lstStyle/>
        <a:p>
          <a:pPr>
            <a:lnSpc>
              <a:spcPct val="100000"/>
            </a:lnSpc>
          </a:pPr>
          <a:endParaRPr lang="en-US"/>
        </a:p>
      </dgm:t>
    </dgm:pt>
    <dgm:pt modelId="{730176D5-7860-4464-BB60-45BC3610D6F3}">
      <dgm:prSet phldr="0"/>
      <dgm:spPr/>
      <dgm:t>
        <a:bodyPr/>
        <a:lstStyle/>
        <a:p>
          <a:pPr>
            <a:lnSpc>
              <a:spcPct val="100000"/>
            </a:lnSpc>
          </a:pPr>
          <a:r>
            <a:rPr lang="en-US">
              <a:latin typeface="Avenir Next LT Pro"/>
            </a:rPr>
            <a:t>04 Why we built Problem 1 as the PoC</a:t>
          </a:r>
        </a:p>
      </dgm:t>
    </dgm:pt>
    <dgm:pt modelId="{F6A13331-4E54-4C50-9018-94862422794F}" type="parTrans" cxnId="{EC9873C3-FB45-4742-AD02-81247665E2B5}">
      <dgm:prSet/>
      <dgm:spPr/>
    </dgm:pt>
    <dgm:pt modelId="{05B29E7A-F7CB-4A39-ADB8-5CE619B00252}" type="sibTrans" cxnId="{EC9873C3-FB45-4742-AD02-81247665E2B5}">
      <dgm:prSet/>
      <dgm:spPr/>
    </dgm:pt>
    <dgm:pt modelId="{847E8553-5174-4B61-AA47-7B25E32D6DA7}">
      <dgm:prSet phldr="0"/>
      <dgm:spPr/>
      <dgm:t>
        <a:bodyPr/>
        <a:lstStyle/>
        <a:p>
          <a:pPr>
            <a:lnSpc>
              <a:spcPct val="100000"/>
            </a:lnSpc>
          </a:pPr>
          <a:r>
            <a:rPr lang="en-US">
              <a:latin typeface="Avenir Next LT Pro"/>
            </a:rPr>
            <a:t>Implementation walkthrough</a:t>
          </a:r>
        </a:p>
      </dgm:t>
    </dgm:pt>
    <dgm:pt modelId="{DDF9188B-3451-4CB1-AB0B-DA6A2EAC174B}" type="parTrans" cxnId="{5E033C1C-49B5-478E-93C5-344CA56B8B44}">
      <dgm:prSet/>
      <dgm:spPr/>
    </dgm:pt>
    <dgm:pt modelId="{E222FC2B-3234-4F08-B243-8E22BADC5C7F}" type="sibTrans" cxnId="{5E033C1C-49B5-478E-93C5-344CA56B8B44}">
      <dgm:prSet/>
      <dgm:spPr/>
    </dgm:pt>
    <dgm:pt modelId="{4F1C5C23-6AE8-4214-9B11-477FA0D6C631}">
      <dgm:prSet phldr="0"/>
      <dgm:spPr/>
      <dgm:t>
        <a:bodyPr/>
        <a:lstStyle/>
        <a:p>
          <a:pPr>
            <a:lnSpc>
              <a:spcPct val="100000"/>
            </a:lnSpc>
          </a:pPr>
          <a:r>
            <a:rPr lang="en-US">
              <a:latin typeface="Avenir Next LT Pro"/>
            </a:rPr>
            <a:t>How we 'd extend it</a:t>
          </a:r>
          <a:endParaRPr lang="en-US"/>
        </a:p>
      </dgm:t>
    </dgm:pt>
    <dgm:pt modelId="{0FBC1898-1B2E-4A1B-B845-585CB8C735F3}" type="parTrans" cxnId="{68C57800-5856-42DF-B6C6-15240CF96F6F}">
      <dgm:prSet/>
      <dgm:spPr/>
    </dgm:pt>
    <dgm:pt modelId="{233E5B64-F545-45FB-B395-7FE6BB33EBC3}" type="sibTrans" cxnId="{68C57800-5856-42DF-B6C6-15240CF96F6F}">
      <dgm:prSet/>
      <dgm:spPr/>
    </dgm:pt>
    <dgm:pt modelId="{D0F210F7-0500-48ED-A414-E5B13484E935}" type="pres">
      <dgm:prSet presAssocID="{1665B87A-9D03-483F-A286-4079A90E9153}" presName="root" presStyleCnt="0">
        <dgm:presLayoutVars>
          <dgm:dir/>
          <dgm:resizeHandles val="exact"/>
        </dgm:presLayoutVars>
      </dgm:prSet>
      <dgm:spPr/>
    </dgm:pt>
    <dgm:pt modelId="{C878BFC1-2F23-455A-BDAB-834545607521}" type="pres">
      <dgm:prSet presAssocID="{1665B87A-9D03-483F-A286-4079A90E9153}" presName="container" presStyleCnt="0">
        <dgm:presLayoutVars>
          <dgm:dir/>
          <dgm:resizeHandles val="exact"/>
        </dgm:presLayoutVars>
      </dgm:prSet>
      <dgm:spPr/>
    </dgm:pt>
    <dgm:pt modelId="{65F55594-3CF0-46BD-A5B7-6175D5EB5B5C}" type="pres">
      <dgm:prSet presAssocID="{51DBF2E1-97ED-4076-AEC7-7458A95E396C}" presName="compNode" presStyleCnt="0"/>
      <dgm:spPr/>
    </dgm:pt>
    <dgm:pt modelId="{86639519-B310-499B-8A17-6E44579974F3}" type="pres">
      <dgm:prSet presAssocID="{51DBF2E1-97ED-4076-AEC7-7458A95E396C}" presName="iconBgRect" presStyleLbl="bgShp" presStyleIdx="0" presStyleCnt="6"/>
      <dgm:spPr/>
    </dgm:pt>
    <dgm:pt modelId="{FF707B28-2FBC-47E9-B5DA-AED8FBBB6C0D}" type="pres">
      <dgm:prSet presAssocID="{51DBF2E1-97ED-4076-AEC7-7458A95E396C}"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redit card"/>
        </a:ext>
      </dgm:extLst>
    </dgm:pt>
    <dgm:pt modelId="{5DD92E8A-B4B3-4158-9AF5-200FD592625C}" type="pres">
      <dgm:prSet presAssocID="{51DBF2E1-97ED-4076-AEC7-7458A95E396C}" presName="spaceRect" presStyleCnt="0"/>
      <dgm:spPr/>
    </dgm:pt>
    <dgm:pt modelId="{DFD07D69-34E4-4159-A034-2994A3A1DE91}" type="pres">
      <dgm:prSet presAssocID="{51DBF2E1-97ED-4076-AEC7-7458A95E396C}" presName="textRect" presStyleLbl="revTx" presStyleIdx="0" presStyleCnt="6">
        <dgm:presLayoutVars>
          <dgm:chMax val="1"/>
          <dgm:chPref val="1"/>
        </dgm:presLayoutVars>
      </dgm:prSet>
      <dgm:spPr/>
    </dgm:pt>
    <dgm:pt modelId="{49D8E15B-C826-4614-AE53-83DD16D1FF4B}" type="pres">
      <dgm:prSet presAssocID="{BF912BF0-E056-4DF3-BCE9-730CF9914ACF}" presName="sibTrans" presStyleLbl="sibTrans2D1" presStyleIdx="0" presStyleCnt="0"/>
      <dgm:spPr/>
    </dgm:pt>
    <dgm:pt modelId="{B7F006FC-13FF-48BA-9E53-F9600170E60A}" type="pres">
      <dgm:prSet presAssocID="{337892E2-0C1E-4616-AB36-AA164C006721}" presName="compNode" presStyleCnt="0"/>
      <dgm:spPr/>
    </dgm:pt>
    <dgm:pt modelId="{6106611C-EABC-470E-BC78-24489713F9BF}" type="pres">
      <dgm:prSet presAssocID="{337892E2-0C1E-4616-AB36-AA164C006721}" presName="iconBgRect" presStyleLbl="bgShp" presStyleIdx="1" presStyleCnt="6"/>
      <dgm:spPr/>
    </dgm:pt>
    <dgm:pt modelId="{FB5AFF4A-9284-42E8-86C6-3AB80226C40C}" type="pres">
      <dgm:prSet presAssocID="{337892E2-0C1E-4616-AB36-AA164C006721}"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all center"/>
        </a:ext>
      </dgm:extLst>
    </dgm:pt>
    <dgm:pt modelId="{637516CF-8A75-410C-8030-E1B6643DD40D}" type="pres">
      <dgm:prSet presAssocID="{337892E2-0C1E-4616-AB36-AA164C006721}" presName="spaceRect" presStyleCnt="0"/>
      <dgm:spPr/>
    </dgm:pt>
    <dgm:pt modelId="{4B2BDA78-6BD4-46D2-89A9-E4803138330A}" type="pres">
      <dgm:prSet presAssocID="{337892E2-0C1E-4616-AB36-AA164C006721}" presName="textRect" presStyleLbl="revTx" presStyleIdx="1" presStyleCnt="6">
        <dgm:presLayoutVars>
          <dgm:chMax val="1"/>
          <dgm:chPref val="1"/>
        </dgm:presLayoutVars>
      </dgm:prSet>
      <dgm:spPr/>
    </dgm:pt>
    <dgm:pt modelId="{53CAF532-1E0C-4A89-94C3-41993A131DEA}" type="pres">
      <dgm:prSet presAssocID="{4C88FC5A-3075-43A6-9122-5A641ACAB4B4}" presName="sibTrans" presStyleLbl="sibTrans2D1" presStyleIdx="0" presStyleCnt="0"/>
      <dgm:spPr/>
    </dgm:pt>
    <dgm:pt modelId="{1D66403C-4774-49A8-86EF-A1D69655806F}" type="pres">
      <dgm:prSet presAssocID="{E4CAEFC3-8765-4382-A7B0-9B3CEEA5DA25}" presName="compNode" presStyleCnt="0"/>
      <dgm:spPr/>
    </dgm:pt>
    <dgm:pt modelId="{75CFBCF6-F441-42C8-90ED-09E3D19DF4EA}" type="pres">
      <dgm:prSet presAssocID="{E4CAEFC3-8765-4382-A7B0-9B3CEEA5DA25}" presName="iconBgRect" presStyleLbl="bgShp" presStyleIdx="2" presStyleCnt="6"/>
      <dgm:spPr/>
    </dgm:pt>
    <dgm:pt modelId="{2FBB9ADC-F2DF-4FB3-A827-FD95BC15DCFC}" type="pres">
      <dgm:prSet presAssocID="{E4CAEFC3-8765-4382-A7B0-9B3CEEA5DA25}"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Bar chart"/>
        </a:ext>
      </dgm:extLst>
    </dgm:pt>
    <dgm:pt modelId="{B73D0649-823A-465A-A2EF-87D14CFC5AD2}" type="pres">
      <dgm:prSet presAssocID="{E4CAEFC3-8765-4382-A7B0-9B3CEEA5DA25}" presName="spaceRect" presStyleCnt="0"/>
      <dgm:spPr/>
    </dgm:pt>
    <dgm:pt modelId="{AC19E4DC-1CE9-42CD-A55A-CD58D47C53F8}" type="pres">
      <dgm:prSet presAssocID="{E4CAEFC3-8765-4382-A7B0-9B3CEEA5DA25}" presName="textRect" presStyleLbl="revTx" presStyleIdx="2" presStyleCnt="6">
        <dgm:presLayoutVars>
          <dgm:chMax val="1"/>
          <dgm:chPref val="1"/>
        </dgm:presLayoutVars>
      </dgm:prSet>
      <dgm:spPr/>
    </dgm:pt>
    <dgm:pt modelId="{334B7934-D384-47F4-846B-9C0318917D5C}" type="pres">
      <dgm:prSet presAssocID="{4824F26B-CBA4-46ED-84F1-08782CF89EE1}" presName="sibTrans" presStyleLbl="sibTrans2D1" presStyleIdx="0" presStyleCnt="0"/>
      <dgm:spPr/>
    </dgm:pt>
    <dgm:pt modelId="{3D0E7282-171E-42E7-B25F-A098CF2392B8}" type="pres">
      <dgm:prSet presAssocID="{730176D5-7860-4464-BB60-45BC3610D6F3}" presName="compNode" presStyleCnt="0"/>
      <dgm:spPr/>
    </dgm:pt>
    <dgm:pt modelId="{0525472C-680C-4E1F-8597-45CE032C5611}" type="pres">
      <dgm:prSet presAssocID="{730176D5-7860-4464-BB60-45BC3610D6F3}" presName="iconBgRect" presStyleLbl="bgShp" presStyleIdx="3" presStyleCnt="6"/>
      <dgm:spPr/>
    </dgm:pt>
    <dgm:pt modelId="{9FAC9AD4-6B53-44C0-ADC2-DAB4542E412B}" type="pres">
      <dgm:prSet presAssocID="{730176D5-7860-4464-BB60-45BC3610D6F3}"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uzzle"/>
        </a:ext>
      </dgm:extLst>
    </dgm:pt>
    <dgm:pt modelId="{B40ABE21-AAD8-4A5D-A20F-64F4F7CE32FE}" type="pres">
      <dgm:prSet presAssocID="{730176D5-7860-4464-BB60-45BC3610D6F3}" presName="spaceRect" presStyleCnt="0"/>
      <dgm:spPr/>
    </dgm:pt>
    <dgm:pt modelId="{00CB6A25-D809-4E34-89C0-7996FCBCDD08}" type="pres">
      <dgm:prSet presAssocID="{730176D5-7860-4464-BB60-45BC3610D6F3}" presName="textRect" presStyleLbl="revTx" presStyleIdx="3" presStyleCnt="6">
        <dgm:presLayoutVars>
          <dgm:chMax val="1"/>
          <dgm:chPref val="1"/>
        </dgm:presLayoutVars>
      </dgm:prSet>
      <dgm:spPr/>
    </dgm:pt>
    <dgm:pt modelId="{4D31732F-DB6C-4D5A-82DC-2CAEA4C9B49A}" type="pres">
      <dgm:prSet presAssocID="{05B29E7A-F7CB-4A39-ADB8-5CE619B00252}" presName="sibTrans" presStyleLbl="sibTrans2D1" presStyleIdx="0" presStyleCnt="0"/>
      <dgm:spPr/>
    </dgm:pt>
    <dgm:pt modelId="{3B8F22E7-E712-4B25-AD19-4572E7F29E67}" type="pres">
      <dgm:prSet presAssocID="{847E8553-5174-4B61-AA47-7B25E32D6DA7}" presName="compNode" presStyleCnt="0"/>
      <dgm:spPr/>
    </dgm:pt>
    <dgm:pt modelId="{F20DC5A8-595E-4DFD-B4FB-102107CC2ECA}" type="pres">
      <dgm:prSet presAssocID="{847E8553-5174-4B61-AA47-7B25E32D6DA7}" presName="iconBgRect" presStyleLbl="bgShp" presStyleIdx="4" presStyleCnt="6"/>
      <dgm:spPr/>
    </dgm:pt>
    <dgm:pt modelId="{628ED361-3D8F-4C53-BE96-15E133324F95}" type="pres">
      <dgm:prSet presAssocID="{847E8553-5174-4B61-AA47-7B25E32D6DA7}"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Checkmark"/>
        </a:ext>
      </dgm:extLst>
    </dgm:pt>
    <dgm:pt modelId="{A8F63FC7-FEFD-45A2-AC27-154D22634B69}" type="pres">
      <dgm:prSet presAssocID="{847E8553-5174-4B61-AA47-7B25E32D6DA7}" presName="spaceRect" presStyleCnt="0"/>
      <dgm:spPr/>
    </dgm:pt>
    <dgm:pt modelId="{993258A2-F553-42A9-B917-A381B36DCCDA}" type="pres">
      <dgm:prSet presAssocID="{847E8553-5174-4B61-AA47-7B25E32D6DA7}" presName="textRect" presStyleLbl="revTx" presStyleIdx="4" presStyleCnt="6">
        <dgm:presLayoutVars>
          <dgm:chMax val="1"/>
          <dgm:chPref val="1"/>
        </dgm:presLayoutVars>
      </dgm:prSet>
      <dgm:spPr/>
    </dgm:pt>
    <dgm:pt modelId="{A7E356D9-DC8F-4E05-9BD4-2FF5637695A3}" type="pres">
      <dgm:prSet presAssocID="{E222FC2B-3234-4F08-B243-8E22BADC5C7F}" presName="sibTrans" presStyleLbl="sibTrans2D1" presStyleIdx="0" presStyleCnt="0"/>
      <dgm:spPr/>
    </dgm:pt>
    <dgm:pt modelId="{AEC6DC26-8590-4133-9D4A-75D6F27B9D64}" type="pres">
      <dgm:prSet presAssocID="{4F1C5C23-6AE8-4214-9B11-477FA0D6C631}" presName="compNode" presStyleCnt="0"/>
      <dgm:spPr/>
    </dgm:pt>
    <dgm:pt modelId="{94650FC9-3CDC-4F24-8FF4-EC0B1716140E}" type="pres">
      <dgm:prSet presAssocID="{4F1C5C23-6AE8-4214-9B11-477FA0D6C631}" presName="iconBgRect" presStyleLbl="bgShp" presStyleIdx="5" presStyleCnt="6"/>
      <dgm:spPr/>
    </dgm:pt>
    <dgm:pt modelId="{6A23D2FF-A2A7-4788-9448-865F2C322708}" type="pres">
      <dgm:prSet presAssocID="{4F1C5C23-6AE8-4214-9B11-477FA0D6C631}"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usiness Growth"/>
        </a:ext>
      </dgm:extLst>
    </dgm:pt>
    <dgm:pt modelId="{C494CFE9-B3C9-412F-B923-5C2E2997447E}" type="pres">
      <dgm:prSet presAssocID="{4F1C5C23-6AE8-4214-9B11-477FA0D6C631}" presName="spaceRect" presStyleCnt="0"/>
      <dgm:spPr/>
    </dgm:pt>
    <dgm:pt modelId="{FAA9916A-6048-4652-943B-C35526C8CCA4}" type="pres">
      <dgm:prSet presAssocID="{4F1C5C23-6AE8-4214-9B11-477FA0D6C631}" presName="textRect" presStyleLbl="revTx" presStyleIdx="5" presStyleCnt="6">
        <dgm:presLayoutVars>
          <dgm:chMax val="1"/>
          <dgm:chPref val="1"/>
        </dgm:presLayoutVars>
      </dgm:prSet>
      <dgm:spPr/>
    </dgm:pt>
  </dgm:ptLst>
  <dgm:cxnLst>
    <dgm:cxn modelId="{68C57800-5856-42DF-B6C6-15240CF96F6F}" srcId="{1665B87A-9D03-483F-A286-4079A90E9153}" destId="{4F1C5C23-6AE8-4214-9B11-477FA0D6C631}" srcOrd="5" destOrd="0" parTransId="{0FBC1898-1B2E-4A1B-B845-585CB8C735F3}" sibTransId="{233E5B64-F545-45FB-B395-7FE6BB33EBC3}"/>
    <dgm:cxn modelId="{6CA33814-9DA2-49D2-929A-CF0BAA5EC1CB}" type="presOf" srcId="{4F1C5C23-6AE8-4214-9B11-477FA0D6C631}" destId="{FAA9916A-6048-4652-943B-C35526C8CCA4}" srcOrd="0" destOrd="0" presId="urn:microsoft.com/office/officeart/2018/2/layout/IconCircleList"/>
    <dgm:cxn modelId="{D58E741A-686D-45B4-9907-4809C94E98E9}" srcId="{1665B87A-9D03-483F-A286-4079A90E9153}" destId="{51DBF2E1-97ED-4076-AEC7-7458A95E396C}" srcOrd="0" destOrd="0" parTransId="{0AB8EA20-7B0C-4548-9232-A1805F1731BE}" sibTransId="{BF912BF0-E056-4DF3-BCE9-730CF9914ACF}"/>
    <dgm:cxn modelId="{5E033C1C-49B5-478E-93C5-344CA56B8B44}" srcId="{1665B87A-9D03-483F-A286-4079A90E9153}" destId="{847E8553-5174-4B61-AA47-7B25E32D6DA7}" srcOrd="4" destOrd="0" parTransId="{DDF9188B-3451-4CB1-AB0B-DA6A2EAC174B}" sibTransId="{E222FC2B-3234-4F08-B243-8E22BADC5C7F}"/>
    <dgm:cxn modelId="{D0FA8822-3479-488B-830B-35C9FFDC28F4}" type="presOf" srcId="{BF912BF0-E056-4DF3-BCE9-730CF9914ACF}" destId="{49D8E15B-C826-4614-AE53-83DD16D1FF4B}" srcOrd="0" destOrd="0" presId="urn:microsoft.com/office/officeart/2018/2/layout/IconCircleList"/>
    <dgm:cxn modelId="{D657C636-C0E1-4DAC-8189-EA7668DBA8B1}" type="presOf" srcId="{E4CAEFC3-8765-4382-A7B0-9B3CEEA5DA25}" destId="{AC19E4DC-1CE9-42CD-A55A-CD58D47C53F8}" srcOrd="0" destOrd="0" presId="urn:microsoft.com/office/officeart/2018/2/layout/IconCircleList"/>
    <dgm:cxn modelId="{C1A2593D-E7B1-4C5B-9326-1D2DB686A4B5}" type="presOf" srcId="{847E8553-5174-4B61-AA47-7B25E32D6DA7}" destId="{993258A2-F553-42A9-B917-A381B36DCCDA}" srcOrd="0" destOrd="0" presId="urn:microsoft.com/office/officeart/2018/2/layout/IconCircleList"/>
    <dgm:cxn modelId="{61949A3D-F769-4B69-8E5D-C0A813C22208}" srcId="{1665B87A-9D03-483F-A286-4079A90E9153}" destId="{337892E2-0C1E-4616-AB36-AA164C006721}" srcOrd="1" destOrd="0" parTransId="{724E54F2-7646-4919-8366-CCA6BF95DA06}" sibTransId="{4C88FC5A-3075-43A6-9122-5A641ACAB4B4}"/>
    <dgm:cxn modelId="{D1E3484C-A4E5-4BAE-9770-DE314730D6B0}" type="presOf" srcId="{E222FC2B-3234-4F08-B243-8E22BADC5C7F}" destId="{A7E356D9-DC8F-4E05-9BD4-2FF5637695A3}" srcOrd="0" destOrd="0" presId="urn:microsoft.com/office/officeart/2018/2/layout/IconCircleList"/>
    <dgm:cxn modelId="{A324EB80-0536-42D0-BA53-8C7729AA7755}" type="presOf" srcId="{51DBF2E1-97ED-4076-AEC7-7458A95E396C}" destId="{DFD07D69-34E4-4159-A034-2994A3A1DE91}" srcOrd="0" destOrd="0" presId="urn:microsoft.com/office/officeart/2018/2/layout/IconCircleList"/>
    <dgm:cxn modelId="{E4679B82-100E-4093-A875-7E88AF0C0EFA}" type="presOf" srcId="{4824F26B-CBA4-46ED-84F1-08782CF89EE1}" destId="{334B7934-D384-47F4-846B-9C0318917D5C}" srcOrd="0" destOrd="0" presId="urn:microsoft.com/office/officeart/2018/2/layout/IconCircleList"/>
    <dgm:cxn modelId="{A56A948D-0985-42D7-810C-FF63DAA2CEFF}" type="presOf" srcId="{337892E2-0C1E-4616-AB36-AA164C006721}" destId="{4B2BDA78-6BD4-46D2-89A9-E4803138330A}" srcOrd="0" destOrd="0" presId="urn:microsoft.com/office/officeart/2018/2/layout/IconCircleList"/>
    <dgm:cxn modelId="{D35E5B8E-5712-4F60-A3C1-A628DA071155}" type="presOf" srcId="{05B29E7A-F7CB-4A39-ADB8-5CE619B00252}" destId="{4D31732F-DB6C-4D5A-82DC-2CAEA4C9B49A}" srcOrd="0" destOrd="0" presId="urn:microsoft.com/office/officeart/2018/2/layout/IconCircleList"/>
    <dgm:cxn modelId="{9558DFA5-DDAC-4866-8584-0FC9E5450993}" type="presOf" srcId="{1665B87A-9D03-483F-A286-4079A90E9153}" destId="{D0F210F7-0500-48ED-A414-E5B13484E935}" srcOrd="0" destOrd="0" presId="urn:microsoft.com/office/officeart/2018/2/layout/IconCircleList"/>
    <dgm:cxn modelId="{B4FE1DC3-222E-45D8-8488-1BDBC56175C2}" type="presOf" srcId="{4C88FC5A-3075-43A6-9122-5A641ACAB4B4}" destId="{53CAF532-1E0C-4A89-94C3-41993A131DEA}" srcOrd="0" destOrd="0" presId="urn:microsoft.com/office/officeart/2018/2/layout/IconCircleList"/>
    <dgm:cxn modelId="{EC9873C3-FB45-4742-AD02-81247665E2B5}" srcId="{1665B87A-9D03-483F-A286-4079A90E9153}" destId="{730176D5-7860-4464-BB60-45BC3610D6F3}" srcOrd="3" destOrd="0" parTransId="{F6A13331-4E54-4C50-9018-94862422794F}" sibTransId="{05B29E7A-F7CB-4A39-ADB8-5CE619B00252}"/>
    <dgm:cxn modelId="{4E70B0DB-0214-4609-B6E1-95CD99023355}" type="presOf" srcId="{730176D5-7860-4464-BB60-45BC3610D6F3}" destId="{00CB6A25-D809-4E34-89C0-7996FCBCDD08}" srcOrd="0" destOrd="0" presId="urn:microsoft.com/office/officeart/2018/2/layout/IconCircleList"/>
    <dgm:cxn modelId="{71DFF9E6-40FC-4088-838B-AEC53C41E85A}" srcId="{1665B87A-9D03-483F-A286-4079A90E9153}" destId="{E4CAEFC3-8765-4382-A7B0-9B3CEEA5DA25}" srcOrd="2" destOrd="0" parTransId="{FC311E8F-C14D-4E11-A6EF-B1A078973DE5}" sibTransId="{4824F26B-CBA4-46ED-84F1-08782CF89EE1}"/>
    <dgm:cxn modelId="{5CAFBE67-B018-47FA-881E-E51658D6A6A6}" type="presParOf" srcId="{D0F210F7-0500-48ED-A414-E5B13484E935}" destId="{C878BFC1-2F23-455A-BDAB-834545607521}" srcOrd="0" destOrd="0" presId="urn:microsoft.com/office/officeart/2018/2/layout/IconCircleList"/>
    <dgm:cxn modelId="{6CE45696-52B4-4BBB-A734-E66B1D3E5519}" type="presParOf" srcId="{C878BFC1-2F23-455A-BDAB-834545607521}" destId="{65F55594-3CF0-46BD-A5B7-6175D5EB5B5C}" srcOrd="0" destOrd="0" presId="urn:microsoft.com/office/officeart/2018/2/layout/IconCircleList"/>
    <dgm:cxn modelId="{3E3ED65E-3FB8-4BE5-9580-4AA55CE78C81}" type="presParOf" srcId="{65F55594-3CF0-46BD-A5B7-6175D5EB5B5C}" destId="{86639519-B310-499B-8A17-6E44579974F3}" srcOrd="0" destOrd="0" presId="urn:microsoft.com/office/officeart/2018/2/layout/IconCircleList"/>
    <dgm:cxn modelId="{F53BF65F-859D-412D-A78D-6E97E23E226A}" type="presParOf" srcId="{65F55594-3CF0-46BD-A5B7-6175D5EB5B5C}" destId="{FF707B28-2FBC-47E9-B5DA-AED8FBBB6C0D}" srcOrd="1" destOrd="0" presId="urn:microsoft.com/office/officeart/2018/2/layout/IconCircleList"/>
    <dgm:cxn modelId="{61F685E5-289C-40E5-AAE5-85E4122D39AF}" type="presParOf" srcId="{65F55594-3CF0-46BD-A5B7-6175D5EB5B5C}" destId="{5DD92E8A-B4B3-4158-9AF5-200FD592625C}" srcOrd="2" destOrd="0" presId="urn:microsoft.com/office/officeart/2018/2/layout/IconCircleList"/>
    <dgm:cxn modelId="{9D2031AD-4C18-49FE-8BFF-39F30E9C9BC8}" type="presParOf" srcId="{65F55594-3CF0-46BD-A5B7-6175D5EB5B5C}" destId="{DFD07D69-34E4-4159-A034-2994A3A1DE91}" srcOrd="3" destOrd="0" presId="urn:microsoft.com/office/officeart/2018/2/layout/IconCircleList"/>
    <dgm:cxn modelId="{A73C5AA8-5DCE-4CD9-A9DA-FB2FCA488403}" type="presParOf" srcId="{C878BFC1-2F23-455A-BDAB-834545607521}" destId="{49D8E15B-C826-4614-AE53-83DD16D1FF4B}" srcOrd="1" destOrd="0" presId="urn:microsoft.com/office/officeart/2018/2/layout/IconCircleList"/>
    <dgm:cxn modelId="{59D4087C-3D8E-4F24-9F84-E3A825B80D20}" type="presParOf" srcId="{C878BFC1-2F23-455A-BDAB-834545607521}" destId="{B7F006FC-13FF-48BA-9E53-F9600170E60A}" srcOrd="2" destOrd="0" presId="urn:microsoft.com/office/officeart/2018/2/layout/IconCircleList"/>
    <dgm:cxn modelId="{257177D8-85A2-4741-A0DB-0A18071B1494}" type="presParOf" srcId="{B7F006FC-13FF-48BA-9E53-F9600170E60A}" destId="{6106611C-EABC-470E-BC78-24489713F9BF}" srcOrd="0" destOrd="0" presId="urn:microsoft.com/office/officeart/2018/2/layout/IconCircleList"/>
    <dgm:cxn modelId="{132CABA1-BA2A-4A26-A33B-1546CA7DB825}" type="presParOf" srcId="{B7F006FC-13FF-48BA-9E53-F9600170E60A}" destId="{FB5AFF4A-9284-42E8-86C6-3AB80226C40C}" srcOrd="1" destOrd="0" presId="urn:microsoft.com/office/officeart/2018/2/layout/IconCircleList"/>
    <dgm:cxn modelId="{FBEAE78F-65EE-4A7C-9B33-C4FBD495FC60}" type="presParOf" srcId="{B7F006FC-13FF-48BA-9E53-F9600170E60A}" destId="{637516CF-8A75-410C-8030-E1B6643DD40D}" srcOrd="2" destOrd="0" presId="urn:microsoft.com/office/officeart/2018/2/layout/IconCircleList"/>
    <dgm:cxn modelId="{B48FA4D6-CA38-4C60-BBB7-3329852435ED}" type="presParOf" srcId="{B7F006FC-13FF-48BA-9E53-F9600170E60A}" destId="{4B2BDA78-6BD4-46D2-89A9-E4803138330A}" srcOrd="3" destOrd="0" presId="urn:microsoft.com/office/officeart/2018/2/layout/IconCircleList"/>
    <dgm:cxn modelId="{63EE4BFF-6E2E-4541-A344-56EB9AD5BFBB}" type="presParOf" srcId="{C878BFC1-2F23-455A-BDAB-834545607521}" destId="{53CAF532-1E0C-4A89-94C3-41993A131DEA}" srcOrd="3" destOrd="0" presId="urn:microsoft.com/office/officeart/2018/2/layout/IconCircleList"/>
    <dgm:cxn modelId="{74E4903E-5230-4A17-9F24-09D4E81AF5B7}" type="presParOf" srcId="{C878BFC1-2F23-455A-BDAB-834545607521}" destId="{1D66403C-4774-49A8-86EF-A1D69655806F}" srcOrd="4" destOrd="0" presId="urn:microsoft.com/office/officeart/2018/2/layout/IconCircleList"/>
    <dgm:cxn modelId="{35CC33F6-21D2-483E-B5A5-5E7B34F545CA}" type="presParOf" srcId="{1D66403C-4774-49A8-86EF-A1D69655806F}" destId="{75CFBCF6-F441-42C8-90ED-09E3D19DF4EA}" srcOrd="0" destOrd="0" presId="urn:microsoft.com/office/officeart/2018/2/layout/IconCircleList"/>
    <dgm:cxn modelId="{FA802A62-8A90-4EF7-B283-D89C5C99B2DA}" type="presParOf" srcId="{1D66403C-4774-49A8-86EF-A1D69655806F}" destId="{2FBB9ADC-F2DF-4FB3-A827-FD95BC15DCFC}" srcOrd="1" destOrd="0" presId="urn:microsoft.com/office/officeart/2018/2/layout/IconCircleList"/>
    <dgm:cxn modelId="{26D19D97-776A-4B9F-A2C3-FDDE3B069842}" type="presParOf" srcId="{1D66403C-4774-49A8-86EF-A1D69655806F}" destId="{B73D0649-823A-465A-A2EF-87D14CFC5AD2}" srcOrd="2" destOrd="0" presId="urn:microsoft.com/office/officeart/2018/2/layout/IconCircleList"/>
    <dgm:cxn modelId="{AF3E764A-5D45-4D73-A0CB-42B3D6B2BDD4}" type="presParOf" srcId="{1D66403C-4774-49A8-86EF-A1D69655806F}" destId="{AC19E4DC-1CE9-42CD-A55A-CD58D47C53F8}" srcOrd="3" destOrd="0" presId="urn:microsoft.com/office/officeart/2018/2/layout/IconCircleList"/>
    <dgm:cxn modelId="{AB7BC788-6FF6-422E-811B-1FD089B1F9DA}" type="presParOf" srcId="{C878BFC1-2F23-455A-BDAB-834545607521}" destId="{334B7934-D384-47F4-846B-9C0318917D5C}" srcOrd="5" destOrd="0" presId="urn:microsoft.com/office/officeart/2018/2/layout/IconCircleList"/>
    <dgm:cxn modelId="{EE7E344A-3064-4BED-953F-730DC253DBE0}" type="presParOf" srcId="{C878BFC1-2F23-455A-BDAB-834545607521}" destId="{3D0E7282-171E-42E7-B25F-A098CF2392B8}" srcOrd="6" destOrd="0" presId="urn:microsoft.com/office/officeart/2018/2/layout/IconCircleList"/>
    <dgm:cxn modelId="{16B12C41-E511-4082-BFFB-2CD5E9AD6E5D}" type="presParOf" srcId="{3D0E7282-171E-42E7-B25F-A098CF2392B8}" destId="{0525472C-680C-4E1F-8597-45CE032C5611}" srcOrd="0" destOrd="0" presId="urn:microsoft.com/office/officeart/2018/2/layout/IconCircleList"/>
    <dgm:cxn modelId="{0DAAB28F-FA9F-427E-840B-2D8430E218F2}" type="presParOf" srcId="{3D0E7282-171E-42E7-B25F-A098CF2392B8}" destId="{9FAC9AD4-6B53-44C0-ADC2-DAB4542E412B}" srcOrd="1" destOrd="0" presId="urn:microsoft.com/office/officeart/2018/2/layout/IconCircleList"/>
    <dgm:cxn modelId="{94D3EE17-CE44-4FE1-85CD-528D4A34D597}" type="presParOf" srcId="{3D0E7282-171E-42E7-B25F-A098CF2392B8}" destId="{B40ABE21-AAD8-4A5D-A20F-64F4F7CE32FE}" srcOrd="2" destOrd="0" presId="urn:microsoft.com/office/officeart/2018/2/layout/IconCircleList"/>
    <dgm:cxn modelId="{EACF3881-FAF5-4F48-AA95-2F9562735C7E}" type="presParOf" srcId="{3D0E7282-171E-42E7-B25F-A098CF2392B8}" destId="{00CB6A25-D809-4E34-89C0-7996FCBCDD08}" srcOrd="3" destOrd="0" presId="urn:microsoft.com/office/officeart/2018/2/layout/IconCircleList"/>
    <dgm:cxn modelId="{FFE609ED-4976-4558-87D7-DD312F1143A5}" type="presParOf" srcId="{C878BFC1-2F23-455A-BDAB-834545607521}" destId="{4D31732F-DB6C-4D5A-82DC-2CAEA4C9B49A}" srcOrd="7" destOrd="0" presId="urn:microsoft.com/office/officeart/2018/2/layout/IconCircleList"/>
    <dgm:cxn modelId="{70CB35E6-CE5F-4A64-AA6A-F1807C3BC00B}" type="presParOf" srcId="{C878BFC1-2F23-455A-BDAB-834545607521}" destId="{3B8F22E7-E712-4B25-AD19-4572E7F29E67}" srcOrd="8" destOrd="0" presId="urn:microsoft.com/office/officeart/2018/2/layout/IconCircleList"/>
    <dgm:cxn modelId="{1DC7540D-FC08-482F-850B-24FC659A7CC8}" type="presParOf" srcId="{3B8F22E7-E712-4B25-AD19-4572E7F29E67}" destId="{F20DC5A8-595E-4DFD-B4FB-102107CC2ECA}" srcOrd="0" destOrd="0" presId="urn:microsoft.com/office/officeart/2018/2/layout/IconCircleList"/>
    <dgm:cxn modelId="{9C5023CA-C5C6-4872-94B5-AB1A6B92BCB5}" type="presParOf" srcId="{3B8F22E7-E712-4B25-AD19-4572E7F29E67}" destId="{628ED361-3D8F-4C53-BE96-15E133324F95}" srcOrd="1" destOrd="0" presId="urn:microsoft.com/office/officeart/2018/2/layout/IconCircleList"/>
    <dgm:cxn modelId="{34535076-85C0-45A7-8C9C-240B2EAA9353}" type="presParOf" srcId="{3B8F22E7-E712-4B25-AD19-4572E7F29E67}" destId="{A8F63FC7-FEFD-45A2-AC27-154D22634B69}" srcOrd="2" destOrd="0" presId="urn:microsoft.com/office/officeart/2018/2/layout/IconCircleList"/>
    <dgm:cxn modelId="{32B7D787-5D13-4B41-9932-42F65464F530}" type="presParOf" srcId="{3B8F22E7-E712-4B25-AD19-4572E7F29E67}" destId="{993258A2-F553-42A9-B917-A381B36DCCDA}" srcOrd="3" destOrd="0" presId="urn:microsoft.com/office/officeart/2018/2/layout/IconCircleList"/>
    <dgm:cxn modelId="{E408B314-A4E0-4DDD-8A07-BEB082B56B82}" type="presParOf" srcId="{C878BFC1-2F23-455A-BDAB-834545607521}" destId="{A7E356D9-DC8F-4E05-9BD4-2FF5637695A3}" srcOrd="9" destOrd="0" presId="urn:microsoft.com/office/officeart/2018/2/layout/IconCircleList"/>
    <dgm:cxn modelId="{26BEB586-EA87-4E66-97DD-CBE93B3FB1F1}" type="presParOf" srcId="{C878BFC1-2F23-455A-BDAB-834545607521}" destId="{AEC6DC26-8590-4133-9D4A-75D6F27B9D64}" srcOrd="10" destOrd="0" presId="urn:microsoft.com/office/officeart/2018/2/layout/IconCircleList"/>
    <dgm:cxn modelId="{7524ABDD-A305-4136-AF83-280A1202DAD0}" type="presParOf" srcId="{AEC6DC26-8590-4133-9D4A-75D6F27B9D64}" destId="{94650FC9-3CDC-4F24-8FF4-EC0B1716140E}" srcOrd="0" destOrd="0" presId="urn:microsoft.com/office/officeart/2018/2/layout/IconCircleList"/>
    <dgm:cxn modelId="{C5094051-5766-4731-A293-9594F4BD879C}" type="presParOf" srcId="{AEC6DC26-8590-4133-9D4A-75D6F27B9D64}" destId="{6A23D2FF-A2A7-4788-9448-865F2C322708}" srcOrd="1" destOrd="0" presId="urn:microsoft.com/office/officeart/2018/2/layout/IconCircleList"/>
    <dgm:cxn modelId="{45833C76-39B4-46D1-80CD-9D761840BABC}" type="presParOf" srcId="{AEC6DC26-8590-4133-9D4A-75D6F27B9D64}" destId="{C494CFE9-B3C9-412F-B923-5C2E2997447E}" srcOrd="2" destOrd="0" presId="urn:microsoft.com/office/officeart/2018/2/layout/IconCircleList"/>
    <dgm:cxn modelId="{D9BE2E11-2E06-41BC-9E59-1EBFE59DBF2E}" type="presParOf" srcId="{AEC6DC26-8590-4133-9D4A-75D6F27B9D64}" destId="{FAA9916A-6048-4652-943B-C35526C8CCA4}"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639519-B310-499B-8A17-6E44579974F3}">
      <dsp:nvSpPr>
        <dsp:cNvPr id="0" name=""/>
        <dsp:cNvSpPr/>
      </dsp:nvSpPr>
      <dsp:spPr>
        <a:xfrm>
          <a:off x="383183" y="718069"/>
          <a:ext cx="815013" cy="81501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707B28-2FBC-47E9-B5DA-AED8FBBB6C0D}">
      <dsp:nvSpPr>
        <dsp:cNvPr id="0" name=""/>
        <dsp:cNvSpPr/>
      </dsp:nvSpPr>
      <dsp:spPr>
        <a:xfrm>
          <a:off x="554336" y="889222"/>
          <a:ext cx="472707" cy="4727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D07D69-34E4-4159-A034-2994A3A1DE91}">
      <dsp:nvSpPr>
        <dsp:cNvPr id="0" name=""/>
        <dsp:cNvSpPr/>
      </dsp:nvSpPr>
      <dsp:spPr>
        <a:xfrm>
          <a:off x="1372842" y="718069"/>
          <a:ext cx="1921102" cy="8150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01 Problem 1 – Manual Credit Memo  &amp; Proposal Generation</a:t>
          </a:r>
        </a:p>
      </dsp:txBody>
      <dsp:txXfrm>
        <a:off x="1372842" y="718069"/>
        <a:ext cx="1921102" cy="815013"/>
      </dsp:txXfrm>
    </dsp:sp>
    <dsp:sp modelId="{6106611C-EABC-470E-BC78-24489713F9BF}">
      <dsp:nvSpPr>
        <dsp:cNvPr id="0" name=""/>
        <dsp:cNvSpPr/>
      </dsp:nvSpPr>
      <dsp:spPr>
        <a:xfrm>
          <a:off x="3628682" y="718069"/>
          <a:ext cx="815013" cy="81501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5AFF4A-9284-42E8-86C6-3AB80226C40C}">
      <dsp:nvSpPr>
        <dsp:cNvPr id="0" name=""/>
        <dsp:cNvSpPr/>
      </dsp:nvSpPr>
      <dsp:spPr>
        <a:xfrm>
          <a:off x="3799835" y="889222"/>
          <a:ext cx="472707" cy="4727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2BDA78-6BD4-46D2-89A9-E4803138330A}">
      <dsp:nvSpPr>
        <dsp:cNvPr id="0" name=""/>
        <dsp:cNvSpPr/>
      </dsp:nvSpPr>
      <dsp:spPr>
        <a:xfrm>
          <a:off x="4618342" y="718069"/>
          <a:ext cx="1921102" cy="8150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02 Problem 2 – Unstructured Support Ticket Handling</a:t>
          </a:r>
        </a:p>
      </dsp:txBody>
      <dsp:txXfrm>
        <a:off x="4618342" y="718069"/>
        <a:ext cx="1921102" cy="815013"/>
      </dsp:txXfrm>
    </dsp:sp>
    <dsp:sp modelId="{75CFBCF6-F441-42C8-90ED-09E3D19DF4EA}">
      <dsp:nvSpPr>
        <dsp:cNvPr id="0" name=""/>
        <dsp:cNvSpPr/>
      </dsp:nvSpPr>
      <dsp:spPr>
        <a:xfrm>
          <a:off x="6874182" y="718069"/>
          <a:ext cx="815013" cy="81501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BB9ADC-F2DF-4FB3-A827-FD95BC15DCFC}">
      <dsp:nvSpPr>
        <dsp:cNvPr id="0" name=""/>
        <dsp:cNvSpPr/>
      </dsp:nvSpPr>
      <dsp:spPr>
        <a:xfrm>
          <a:off x="7045335" y="889222"/>
          <a:ext cx="472707" cy="4727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19E4DC-1CE9-42CD-A55A-CD58D47C53F8}">
      <dsp:nvSpPr>
        <dsp:cNvPr id="0" name=""/>
        <dsp:cNvSpPr/>
      </dsp:nvSpPr>
      <dsp:spPr>
        <a:xfrm>
          <a:off x="7863841" y="718069"/>
          <a:ext cx="1921102" cy="8150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03 Problem 3 – Manual Reporting &amp; Data Consolidating</a:t>
          </a:r>
        </a:p>
      </dsp:txBody>
      <dsp:txXfrm>
        <a:off x="7863841" y="718069"/>
        <a:ext cx="1921102" cy="815013"/>
      </dsp:txXfrm>
    </dsp:sp>
    <dsp:sp modelId="{0525472C-680C-4E1F-8597-45CE032C5611}">
      <dsp:nvSpPr>
        <dsp:cNvPr id="0" name=""/>
        <dsp:cNvSpPr/>
      </dsp:nvSpPr>
      <dsp:spPr>
        <a:xfrm>
          <a:off x="383183" y="2161092"/>
          <a:ext cx="815013" cy="81501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AC9AD4-6B53-44C0-ADC2-DAB4542E412B}">
      <dsp:nvSpPr>
        <dsp:cNvPr id="0" name=""/>
        <dsp:cNvSpPr/>
      </dsp:nvSpPr>
      <dsp:spPr>
        <a:xfrm>
          <a:off x="554336" y="2332245"/>
          <a:ext cx="472707" cy="4727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CB6A25-D809-4E34-89C0-7996FCBCDD08}">
      <dsp:nvSpPr>
        <dsp:cNvPr id="0" name=""/>
        <dsp:cNvSpPr/>
      </dsp:nvSpPr>
      <dsp:spPr>
        <a:xfrm>
          <a:off x="1372842" y="2161092"/>
          <a:ext cx="1921102" cy="8150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latin typeface="Avenir Next LT Pro"/>
            </a:rPr>
            <a:t>04 Why we built Problem 1 as the PoC</a:t>
          </a:r>
        </a:p>
      </dsp:txBody>
      <dsp:txXfrm>
        <a:off x="1372842" y="2161092"/>
        <a:ext cx="1921102" cy="815013"/>
      </dsp:txXfrm>
    </dsp:sp>
    <dsp:sp modelId="{F20DC5A8-595E-4DFD-B4FB-102107CC2ECA}">
      <dsp:nvSpPr>
        <dsp:cNvPr id="0" name=""/>
        <dsp:cNvSpPr/>
      </dsp:nvSpPr>
      <dsp:spPr>
        <a:xfrm>
          <a:off x="3628682" y="2161092"/>
          <a:ext cx="815013" cy="81501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8ED361-3D8F-4C53-BE96-15E133324F95}">
      <dsp:nvSpPr>
        <dsp:cNvPr id="0" name=""/>
        <dsp:cNvSpPr/>
      </dsp:nvSpPr>
      <dsp:spPr>
        <a:xfrm>
          <a:off x="3799835" y="2332245"/>
          <a:ext cx="472707" cy="4727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3258A2-F553-42A9-B917-A381B36DCCDA}">
      <dsp:nvSpPr>
        <dsp:cNvPr id="0" name=""/>
        <dsp:cNvSpPr/>
      </dsp:nvSpPr>
      <dsp:spPr>
        <a:xfrm>
          <a:off x="4618342" y="2161092"/>
          <a:ext cx="1921102" cy="8150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latin typeface="Avenir Next LT Pro"/>
            </a:rPr>
            <a:t>Implementation walkthrough</a:t>
          </a:r>
        </a:p>
      </dsp:txBody>
      <dsp:txXfrm>
        <a:off x="4618342" y="2161092"/>
        <a:ext cx="1921102" cy="815013"/>
      </dsp:txXfrm>
    </dsp:sp>
    <dsp:sp modelId="{94650FC9-3CDC-4F24-8FF4-EC0B1716140E}">
      <dsp:nvSpPr>
        <dsp:cNvPr id="0" name=""/>
        <dsp:cNvSpPr/>
      </dsp:nvSpPr>
      <dsp:spPr>
        <a:xfrm>
          <a:off x="6874182" y="2161092"/>
          <a:ext cx="815013" cy="81501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23D2FF-A2A7-4788-9448-865F2C322708}">
      <dsp:nvSpPr>
        <dsp:cNvPr id="0" name=""/>
        <dsp:cNvSpPr/>
      </dsp:nvSpPr>
      <dsp:spPr>
        <a:xfrm>
          <a:off x="7045335" y="2332245"/>
          <a:ext cx="472707" cy="4727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A9916A-6048-4652-943B-C35526C8CCA4}">
      <dsp:nvSpPr>
        <dsp:cNvPr id="0" name=""/>
        <dsp:cNvSpPr/>
      </dsp:nvSpPr>
      <dsp:spPr>
        <a:xfrm>
          <a:off x="7863841" y="2161092"/>
          <a:ext cx="1921102" cy="8150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latin typeface="Avenir Next LT Pro"/>
            </a:rPr>
            <a:t>How we 'd extend it</a:t>
          </a:r>
          <a:endParaRPr lang="en-US" sz="1400" kern="1200"/>
        </a:p>
      </dsp:txBody>
      <dsp:txXfrm>
        <a:off x="7863841" y="2161092"/>
        <a:ext cx="1921102" cy="815013"/>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24T02:13:17.34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1817 6085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24T02:13:17.34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1217 7902 16383 0 0,'0'0'0'0'0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3/23/2026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2286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3/23/2026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821615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3/23/2026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036959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3/23/2026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078344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3/23/2026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548773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3/23/2026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046562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3/23/2026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1801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3/23/2026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588832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3/23/2026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250692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3/23/2026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77308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3/23/2026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760510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3/23/2026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3385229667"/>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52" r:id="rId6"/>
    <p:sldLayoutId id="2147483757" r:id="rId7"/>
    <p:sldLayoutId id="2147483753" r:id="rId8"/>
    <p:sldLayoutId id="2147483754" r:id="rId9"/>
    <p:sldLayoutId id="2147483755" r:id="rId10"/>
    <p:sldLayoutId id="214748375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Muhozgu/finserve/tree/main/credit_memo"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Muhozgu/finserve/tree/main/support_ticket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github.com/Muhozgu/finserve/tree/main/monthly_portfolio"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customXml" Target="../ink/ink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4651FF8-1F10-0AB7-49F0-978701972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2687644F-3E4E-9C97-DFDC-D3F7A2B6A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9801" y="638176"/>
            <a:ext cx="9172398" cy="5581648"/>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2006758" y="1269995"/>
            <a:ext cx="8178484" cy="2570656"/>
          </a:xfrm>
        </p:spPr>
        <p:txBody>
          <a:bodyPr anchor="ctr">
            <a:normAutofit/>
          </a:bodyPr>
          <a:lstStyle/>
          <a:p>
            <a:pPr algn="ctr"/>
            <a:r>
              <a:rPr lang="en-US" sz="5600" b="1" dirty="0" err="1"/>
              <a:t>Finserve</a:t>
            </a:r>
            <a:r>
              <a:rPr lang="en-US" sz="5600" b="1" dirty="0"/>
              <a:t> </a:t>
            </a:r>
            <a:r>
              <a:rPr lang="en-US" sz="5600" dirty="0"/>
              <a:t>– AI Automation Assessment</a:t>
            </a:r>
          </a:p>
        </p:txBody>
      </p:sp>
      <p:sp>
        <p:nvSpPr>
          <p:cNvPr id="3" name="Subtitle 2"/>
          <p:cNvSpPr>
            <a:spLocks noGrp="1"/>
          </p:cNvSpPr>
          <p:nvPr>
            <p:ph type="subTitle" idx="1"/>
          </p:nvPr>
        </p:nvSpPr>
        <p:spPr>
          <a:xfrm>
            <a:off x="2432720" y="4613283"/>
            <a:ext cx="7326560" cy="1157766"/>
          </a:xfrm>
        </p:spPr>
        <p:txBody>
          <a:bodyPr vert="horz" lIns="91440" tIns="45720" rIns="91440" bIns="45720" rtlCol="0" anchor="ctr">
            <a:normAutofit/>
          </a:bodyPr>
          <a:lstStyle/>
          <a:p>
            <a:pPr algn="ctr">
              <a:lnSpc>
                <a:spcPct val="100000"/>
              </a:lnSpc>
            </a:pPr>
            <a:r>
              <a:rPr lang="en-US" sz="1700"/>
              <a:t>3 Business problems</a:t>
            </a:r>
          </a:p>
          <a:p>
            <a:pPr algn="ctr">
              <a:lnSpc>
                <a:spcPct val="100000"/>
              </a:lnSpc>
            </a:pPr>
            <a:r>
              <a:rPr lang="en-US" sz="1700"/>
              <a:t>3 working PoCs</a:t>
            </a:r>
          </a:p>
          <a:p>
            <a:pPr algn="ctr">
              <a:lnSpc>
                <a:spcPct val="100000"/>
              </a:lnSpc>
            </a:pPr>
            <a:r>
              <a:rPr lang="en-US" sz="1700"/>
              <a:t>Python, Groq API (Llama 3), Github</a:t>
            </a:r>
          </a:p>
        </p:txBody>
      </p:sp>
      <p:sp>
        <p:nvSpPr>
          <p:cNvPr id="24" name="Rectangle 23">
            <a:extLst>
              <a:ext uri="{FF2B5EF4-FFF2-40B4-BE49-F238E27FC236}">
                <a16:creationId xmlns:a16="http://schemas.microsoft.com/office/drawing/2014/main" id="{38058123-00F3-558B-D353-674B7B9B1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44440" y="4259315"/>
            <a:ext cx="210312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09211104-5508-9F53-82C5-732E80D73C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31992" y="5854064"/>
            <a:ext cx="128016"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932E2-16E1-D404-2EA9-68412BFC6DFA}"/>
              </a:ext>
            </a:extLst>
          </p:cNvPr>
          <p:cNvSpPr>
            <a:spLocks noGrp="1"/>
          </p:cNvSpPr>
          <p:nvPr>
            <p:ph type="title"/>
          </p:nvPr>
        </p:nvSpPr>
        <p:spPr>
          <a:xfrm>
            <a:off x="1115568" y="548640"/>
            <a:ext cx="3162278" cy="1168203"/>
          </a:xfrm>
        </p:spPr>
        <p:txBody>
          <a:bodyPr>
            <a:normAutofit/>
          </a:bodyPr>
          <a:lstStyle/>
          <a:p>
            <a:r>
              <a:rPr lang="en-US" sz="3000" b="1"/>
              <a:t>Overview</a:t>
            </a:r>
          </a:p>
        </p:txBody>
      </p:sp>
      <p:graphicFrame>
        <p:nvGraphicFramePr>
          <p:cNvPr id="5" name="Content Placeholder 2">
            <a:extLst>
              <a:ext uri="{FF2B5EF4-FFF2-40B4-BE49-F238E27FC236}">
                <a16:creationId xmlns:a16="http://schemas.microsoft.com/office/drawing/2014/main" id="{42680AAB-DC6E-E9AF-7FF8-753C39B12F2D}"/>
              </a:ext>
            </a:extLst>
          </p:cNvPr>
          <p:cNvGraphicFramePr>
            <a:graphicFrameLocks noGrp="1"/>
          </p:cNvGraphicFramePr>
          <p:nvPr>
            <p:ph idx="1"/>
          </p:nvPr>
        </p:nvGraphicFramePr>
        <p:xfrm>
          <a:off x="1115568" y="2478024"/>
          <a:ext cx="10168128" cy="3694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9385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23125-941F-5D0D-341D-E7C61FC566C4}"/>
              </a:ext>
            </a:extLst>
          </p:cNvPr>
          <p:cNvSpPr>
            <a:spLocks noGrp="1"/>
          </p:cNvSpPr>
          <p:nvPr>
            <p:ph type="title"/>
          </p:nvPr>
        </p:nvSpPr>
        <p:spPr>
          <a:xfrm>
            <a:off x="1013210" y="650998"/>
            <a:ext cx="7393084" cy="1179576"/>
          </a:xfrm>
        </p:spPr>
        <p:txBody>
          <a:bodyPr/>
          <a:lstStyle/>
          <a:p>
            <a:r>
              <a:rPr lang="en-US" sz="3000" b="1"/>
              <a:t>Problem 01</a:t>
            </a:r>
            <a:r>
              <a:rPr lang="en-US" sz="3000"/>
              <a:t> - AI</a:t>
            </a:r>
            <a:r>
              <a:rPr lang="en-US" sz="3000" dirty="0"/>
              <a:t> credit Memo Generator</a:t>
            </a:r>
          </a:p>
        </p:txBody>
      </p:sp>
      <p:sp>
        <p:nvSpPr>
          <p:cNvPr id="3" name="Content Placeholder 2">
            <a:extLst>
              <a:ext uri="{FF2B5EF4-FFF2-40B4-BE49-F238E27FC236}">
                <a16:creationId xmlns:a16="http://schemas.microsoft.com/office/drawing/2014/main" id="{B600F4C7-27E0-96D2-5DD7-25BA18F2BBDD}"/>
              </a:ext>
            </a:extLst>
          </p:cNvPr>
          <p:cNvSpPr>
            <a:spLocks noGrp="1"/>
          </p:cNvSpPr>
          <p:nvPr>
            <p:ph idx="1"/>
          </p:nvPr>
        </p:nvSpPr>
        <p:spPr>
          <a:xfrm>
            <a:off x="1013210" y="2534889"/>
            <a:ext cx="10168128" cy="2932177"/>
          </a:xfrm>
        </p:spPr>
        <p:txBody>
          <a:bodyPr vert="horz" lIns="91440" tIns="45720" rIns="91440" bIns="45720" rtlCol="0" anchor="t">
            <a:normAutofit lnSpcReduction="10000"/>
          </a:bodyPr>
          <a:lstStyle/>
          <a:p>
            <a:r>
              <a:rPr lang="en-US" sz="1500" b="1">
                <a:latin typeface="Avenir Next LT Pro"/>
              </a:rPr>
              <a:t>The problem</a:t>
            </a:r>
            <a:r>
              <a:rPr lang="en-US" sz="1500" b="1">
                <a:latin typeface="Aptos"/>
              </a:rPr>
              <a:t> </a:t>
            </a:r>
            <a:r>
              <a:rPr lang="en-US" sz="1500"/>
              <a:t>: </a:t>
            </a:r>
            <a:r>
              <a:rPr lang="en-US" sz="1500">
                <a:ea typeface="+mn-lt"/>
                <a:cs typeface="+mn-lt"/>
              </a:rPr>
              <a:t>Every credit application requires a credit memo before it can go to the committee. Today, analysts manually pull data from the CRM, core banking system, and loan application system, copy figures into a Word template, calculate ratios by hand, and write the narrative from scratch. The process takes hours per application, varies in quality between analysts, and creates a bottleneck that slows down the entire credit pipeline.</a:t>
            </a:r>
          </a:p>
          <a:p>
            <a:r>
              <a:rPr lang="en-US" sz="1500" b="1" dirty="0"/>
              <a:t>Affected departments</a:t>
            </a:r>
            <a:r>
              <a:rPr lang="en-US" sz="1500" dirty="0"/>
              <a:t>: Credit &amp; Operations, Risk &amp; Compli</a:t>
            </a:r>
            <a:r>
              <a:rPr lang="en-US" sz="1500"/>
              <a:t>ance</a:t>
            </a:r>
          </a:p>
          <a:p>
            <a:r>
              <a:rPr lang="en-US" sz="1500" b="1" dirty="0"/>
              <a:t>The solution</a:t>
            </a:r>
            <a:r>
              <a:rPr lang="en-US" sz="1500" dirty="0"/>
              <a:t>: </a:t>
            </a:r>
            <a:r>
              <a:rPr lang="en-US" sz="1500" dirty="0">
                <a:ea typeface="+mn-lt"/>
                <a:cs typeface="+mn-lt"/>
              </a:rPr>
              <a:t> An AI-powered credit memo generator that connects to all three internal data sources, </a:t>
            </a:r>
            <a:r>
              <a:rPr lang="en-US" sz="1500">
                <a:ea typeface="+mn-lt"/>
                <a:cs typeface="+mn-lt"/>
              </a:rPr>
              <a:t>normalizes</a:t>
            </a:r>
            <a:r>
              <a:rPr lang="en-US" sz="1500" dirty="0">
                <a:ea typeface="+mn-lt"/>
                <a:cs typeface="+mn-lt"/>
              </a:rPr>
              <a:t> </a:t>
            </a:r>
            <a:r>
              <a:rPr lang="en-US" sz="1500">
                <a:ea typeface="+mn-lt"/>
                <a:cs typeface="+mn-lt"/>
              </a:rPr>
              <a:t>the data into a unified client profile, and passes it to Claude to perform the analytical work ratio calculation, trend analysis, risk identification before generating a complete, professionally formatted Word document in </a:t>
            </a:r>
            <a:r>
              <a:rPr lang="en-US" sz="1500" dirty="0">
                <a:ea typeface="+mn-lt"/>
                <a:cs typeface="+mn-lt"/>
              </a:rPr>
              <a:t>seconds. Analysts shift from writing memos to reviewing and approving them.</a:t>
            </a:r>
          </a:p>
          <a:p>
            <a:r>
              <a:rPr lang="en-US" sz="1500" b="1" dirty="0"/>
              <a:t>GitHub Link : </a:t>
            </a:r>
            <a:r>
              <a:rPr lang="en-US" sz="1500" dirty="0" err="1">
                <a:ea typeface="+mn-lt"/>
                <a:cs typeface="+mn-lt"/>
                <a:hlinkClick r:id="rId2"/>
              </a:rPr>
              <a:t>credit_memo</a:t>
            </a:r>
            <a:endParaRPr lang="en-US" sz="1500" err="1">
              <a:ea typeface="+mn-lt"/>
              <a:cs typeface="+mn-lt"/>
              <a:hlinkClick r:id="rId2"/>
            </a:endParaRPr>
          </a:p>
        </p:txBody>
      </p:sp>
    </p:spTree>
    <p:extLst>
      <p:ext uri="{BB962C8B-B14F-4D97-AF65-F5344CB8AC3E}">
        <p14:creationId xmlns:p14="http://schemas.microsoft.com/office/powerpoint/2010/main" val="2044464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A27BE-31FA-0F54-07F0-203A1743DE8F}"/>
              </a:ext>
            </a:extLst>
          </p:cNvPr>
          <p:cNvSpPr>
            <a:spLocks noGrp="1"/>
          </p:cNvSpPr>
          <p:nvPr>
            <p:ph type="title"/>
          </p:nvPr>
        </p:nvSpPr>
        <p:spPr>
          <a:xfrm>
            <a:off x="1115568" y="560013"/>
            <a:ext cx="9986158" cy="1156830"/>
          </a:xfrm>
        </p:spPr>
        <p:txBody>
          <a:bodyPr>
            <a:normAutofit/>
          </a:bodyPr>
          <a:lstStyle/>
          <a:p>
            <a:r>
              <a:rPr lang="en-US" sz="3000" b="1" dirty="0">
                <a:solidFill>
                  <a:srgbClr val="000000"/>
                </a:solidFill>
              </a:rPr>
              <a:t>Problem 02</a:t>
            </a:r>
            <a:r>
              <a:rPr lang="en-US" sz="3000" dirty="0"/>
              <a:t> – Unstructured Support Ticket </a:t>
            </a:r>
            <a:r>
              <a:rPr lang="en-US" sz="3000"/>
              <a:t>Handling</a:t>
            </a:r>
            <a:endParaRPr lang="en-US" sz="3000" dirty="0"/>
          </a:p>
        </p:txBody>
      </p:sp>
      <p:sp>
        <p:nvSpPr>
          <p:cNvPr id="3" name="Content Placeholder 2">
            <a:extLst>
              <a:ext uri="{FF2B5EF4-FFF2-40B4-BE49-F238E27FC236}">
                <a16:creationId xmlns:a16="http://schemas.microsoft.com/office/drawing/2014/main" id="{9C4C239D-5A4F-7A18-219D-A7A7198E0529}"/>
              </a:ext>
            </a:extLst>
          </p:cNvPr>
          <p:cNvSpPr>
            <a:spLocks noGrp="1"/>
          </p:cNvSpPr>
          <p:nvPr>
            <p:ph idx="1"/>
          </p:nvPr>
        </p:nvSpPr>
        <p:spPr/>
        <p:txBody>
          <a:bodyPr vert="horz" lIns="91440" tIns="45720" rIns="91440" bIns="45720" rtlCol="0" anchor="t">
            <a:normAutofit/>
          </a:bodyPr>
          <a:lstStyle/>
          <a:p>
            <a:r>
              <a:rPr lang="en-US" sz="1500" b="1"/>
              <a:t>The problem</a:t>
            </a:r>
            <a:r>
              <a:rPr lang="en-US" sz="1500" b="1" dirty="0">
                <a:latin typeface="Aptos"/>
              </a:rPr>
              <a:t> </a:t>
            </a:r>
            <a:r>
              <a:rPr lang="en-US" sz="1500"/>
              <a:t>: </a:t>
            </a:r>
            <a:r>
              <a:rPr lang="en-US" sz="1500" dirty="0">
                <a:ea typeface="+mn-lt"/>
                <a:cs typeface="+mn-lt"/>
              </a:rPr>
              <a:t> </a:t>
            </a:r>
            <a:r>
              <a:rPr lang="en-US" sz="1500">
                <a:ea typeface="+mn-lt"/>
                <a:cs typeface="+mn-lt"/>
              </a:rPr>
              <a:t>The client support team answers every email and portal ticket individually, with no shared knowledge base and no standard responses. The same question gets answered differently depending on who picks it up. Response times are slow, quality is inconsistent, and agents spend a disproportionate amount of time on repetitive, low-complexity queries — leaving less capacity for genuinely difficult cases.</a:t>
            </a:r>
            <a:endParaRPr lang="en-US">
              <a:ea typeface="+mn-lt"/>
              <a:cs typeface="+mn-lt"/>
            </a:endParaRPr>
          </a:p>
          <a:p>
            <a:r>
              <a:rPr lang="en-US" sz="1500" b="1"/>
              <a:t>Affected departments</a:t>
            </a:r>
            <a:r>
              <a:rPr lang="en-US" sz="1500"/>
              <a:t>: Client Support</a:t>
            </a:r>
          </a:p>
          <a:p>
            <a:r>
              <a:rPr lang="en-US" sz="1500" b="1" dirty="0"/>
              <a:t>The solution</a:t>
            </a:r>
            <a:r>
              <a:rPr lang="en-US" sz="1500" dirty="0"/>
              <a:t>:  </a:t>
            </a:r>
            <a:r>
              <a:rPr lang="en-US" sz="1500" dirty="0">
                <a:ea typeface="+mn-lt"/>
                <a:cs typeface="+mn-lt"/>
              </a:rPr>
              <a:t> An AI triage and draft-response system. Incoming tickets are automatically classified by topic and intent. For common query types, a draft response is generated instantly for the agent to review and send. For complex or sensitive cases, the ticket is flagged and </a:t>
            </a:r>
            <a:r>
              <a:rPr lang="en-US" sz="1500">
                <a:ea typeface="+mn-lt"/>
                <a:cs typeface="+mn-lt"/>
              </a:rPr>
              <a:t>prioritized</a:t>
            </a:r>
            <a:r>
              <a:rPr lang="en-US" sz="1500" dirty="0">
                <a:ea typeface="+mn-lt"/>
                <a:cs typeface="+mn-lt"/>
              </a:rPr>
              <a:t> for human handling. Over time, the system builds </a:t>
            </a:r>
            <a:r>
              <a:rPr lang="en-US" sz="1500">
                <a:ea typeface="+mn-lt"/>
                <a:cs typeface="+mn-lt"/>
              </a:rPr>
              <a:t>a knowledge base from resolved tickets, improving draft quality continuously.</a:t>
            </a:r>
            <a:endParaRPr lang="en-US">
              <a:ea typeface="+mn-lt"/>
              <a:cs typeface="+mn-lt"/>
            </a:endParaRPr>
          </a:p>
          <a:p>
            <a:r>
              <a:rPr lang="en-US" sz="1500" b="1" dirty="0"/>
              <a:t>GitHub Link : </a:t>
            </a:r>
            <a:r>
              <a:rPr lang="en-US" sz="1500" dirty="0" err="1">
                <a:hlinkClick r:id="rId2"/>
              </a:rPr>
              <a:t>support_tickets</a:t>
            </a:r>
            <a:endParaRPr lang="en-US" err="1"/>
          </a:p>
        </p:txBody>
      </p:sp>
    </p:spTree>
    <p:extLst>
      <p:ext uri="{BB962C8B-B14F-4D97-AF65-F5344CB8AC3E}">
        <p14:creationId xmlns:p14="http://schemas.microsoft.com/office/powerpoint/2010/main" val="4239235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C890F-459C-46FA-9E05-76B5C5C6D89F}"/>
              </a:ext>
            </a:extLst>
          </p:cNvPr>
          <p:cNvSpPr>
            <a:spLocks noGrp="1"/>
          </p:cNvSpPr>
          <p:nvPr>
            <p:ph type="title"/>
          </p:nvPr>
        </p:nvSpPr>
        <p:spPr>
          <a:xfrm>
            <a:off x="979091" y="548640"/>
            <a:ext cx="9599472" cy="1168203"/>
          </a:xfrm>
        </p:spPr>
        <p:txBody>
          <a:bodyPr>
            <a:normAutofit/>
          </a:bodyPr>
          <a:lstStyle/>
          <a:p>
            <a:r>
              <a:rPr lang="en-US" sz="3000" b="1"/>
              <a:t>Problem 03</a:t>
            </a:r>
            <a:r>
              <a:rPr lang="en-US" sz="3000"/>
              <a:t> – Manual Reporting &amp; Data Consolidation</a:t>
            </a:r>
          </a:p>
        </p:txBody>
      </p:sp>
      <p:sp>
        <p:nvSpPr>
          <p:cNvPr id="3" name="Content Placeholder 2">
            <a:extLst>
              <a:ext uri="{FF2B5EF4-FFF2-40B4-BE49-F238E27FC236}">
                <a16:creationId xmlns:a16="http://schemas.microsoft.com/office/drawing/2014/main" id="{9B83F1CD-AB5A-14CF-E667-DCBD313E78F1}"/>
              </a:ext>
            </a:extLst>
          </p:cNvPr>
          <p:cNvSpPr>
            <a:spLocks noGrp="1"/>
          </p:cNvSpPr>
          <p:nvPr>
            <p:ph idx="1"/>
          </p:nvPr>
        </p:nvSpPr>
        <p:spPr>
          <a:xfrm>
            <a:off x="979090" y="2534890"/>
            <a:ext cx="10577560" cy="3239251"/>
          </a:xfrm>
        </p:spPr>
        <p:txBody>
          <a:bodyPr vert="horz" lIns="91440" tIns="45720" rIns="91440" bIns="45720" rtlCol="0" anchor="t">
            <a:normAutofit/>
          </a:bodyPr>
          <a:lstStyle/>
          <a:p>
            <a:r>
              <a:rPr lang="en-US" sz="1500" b="1"/>
              <a:t>The problem</a:t>
            </a:r>
            <a:r>
              <a:rPr lang="en-US" sz="1500" b="1" dirty="0">
                <a:latin typeface="Aptos"/>
              </a:rPr>
              <a:t> </a:t>
            </a:r>
            <a:r>
              <a:rPr lang="en-US" sz="1500"/>
              <a:t>: </a:t>
            </a:r>
            <a:r>
              <a:rPr lang="en-US" sz="1500">
                <a:ea typeface="+mn-lt"/>
                <a:cs typeface="+mn-lt"/>
              </a:rPr>
              <a:t>Every month, the finance and risk teams manually extract data from the core banking system and CRM into Excel, reconcile figures across sources, and build monthly, quarterly, and regulatory reports from scratch. The process is time-consuming, error-prone, and heavily dependent on a small number of people who know where the data lives and how to reconcile it. A mistake in a regulatory report carries serious compliance risk.</a:t>
            </a:r>
            <a:endParaRPr lang="en-US">
              <a:ea typeface="+mn-lt"/>
              <a:cs typeface="+mn-lt"/>
            </a:endParaRPr>
          </a:p>
          <a:p>
            <a:r>
              <a:rPr lang="en-US" sz="1500" b="1" dirty="0"/>
              <a:t>Affected departments</a:t>
            </a:r>
            <a:r>
              <a:rPr lang="en-US" sz="1500" dirty="0"/>
              <a:t>: </a:t>
            </a:r>
            <a:r>
              <a:rPr lang="en-US" sz="1500"/>
              <a:t>Finance &amp; Reporting, Risk</a:t>
            </a:r>
            <a:r>
              <a:rPr lang="en-US" sz="1500" dirty="0"/>
              <a:t> &amp; Compliance</a:t>
            </a:r>
          </a:p>
          <a:p>
            <a:r>
              <a:rPr lang="en-US" sz="1500" b="1" dirty="0"/>
              <a:t>The solution</a:t>
            </a:r>
            <a:r>
              <a:rPr lang="en-US" sz="1500" dirty="0"/>
              <a:t>:  </a:t>
            </a:r>
            <a:r>
              <a:rPr lang="en-US" sz="1500" dirty="0">
                <a:ea typeface="+mn-lt"/>
                <a:cs typeface="+mn-lt"/>
              </a:rPr>
              <a:t>An automated reporting pipeline that extracts data from source systems on a schedule, applies reconciliation logic, and generates structured reports automatically. An AI layer </a:t>
            </a:r>
            <a:r>
              <a:rPr lang="en-US" sz="1500">
                <a:ea typeface="+mn-lt"/>
                <a:cs typeface="+mn-lt"/>
              </a:rPr>
              <a:t>summarizes</a:t>
            </a:r>
            <a:r>
              <a:rPr lang="en-US" sz="1500" dirty="0">
                <a:ea typeface="+mn-lt"/>
                <a:cs typeface="+mn-lt"/>
              </a:rPr>
              <a:t> key figures, highlights anomalies or threshold breaches, and flags items that require human review — turning a multi-day manual process </a:t>
            </a:r>
            <a:r>
              <a:rPr lang="en-US" sz="1500">
                <a:ea typeface="+mn-lt"/>
                <a:cs typeface="+mn-lt"/>
              </a:rPr>
              <a:t>into an overnight automated run with a human sign-off step at the end.</a:t>
            </a:r>
          </a:p>
          <a:p>
            <a:r>
              <a:rPr lang="en-US" sz="1500" b="1" dirty="0"/>
              <a:t>GitHub Link : </a:t>
            </a:r>
            <a:r>
              <a:rPr lang="en-US" sz="1500" dirty="0" err="1">
                <a:hlinkClick r:id="rId2"/>
              </a:rPr>
              <a:t>monthly_portfolio</a:t>
            </a:r>
            <a:endParaRPr lang="en-US" sz="1500" err="1">
              <a:hlinkClick r:id="rId2"/>
            </a:endParaRPr>
          </a:p>
        </p:txBody>
      </p:sp>
    </p:spTree>
    <p:extLst>
      <p:ext uri="{BB962C8B-B14F-4D97-AF65-F5344CB8AC3E}">
        <p14:creationId xmlns:p14="http://schemas.microsoft.com/office/powerpoint/2010/main" val="2198337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F971D-2591-78D8-AFA5-D49640F808C3}"/>
              </a:ext>
            </a:extLst>
          </p:cNvPr>
          <p:cNvSpPr>
            <a:spLocks noGrp="1"/>
          </p:cNvSpPr>
          <p:nvPr>
            <p:ph type="title"/>
          </p:nvPr>
        </p:nvSpPr>
        <p:spPr>
          <a:xfrm>
            <a:off x="1115567" y="741984"/>
            <a:ext cx="4868249" cy="974860"/>
          </a:xfrm>
        </p:spPr>
        <p:txBody>
          <a:bodyPr>
            <a:normAutofit/>
          </a:bodyPr>
          <a:lstStyle/>
          <a:p>
            <a:r>
              <a:rPr lang="en-US" sz="3000" b="1"/>
              <a:t>Why I built Problem 1</a:t>
            </a:r>
          </a:p>
        </p:txBody>
      </p:sp>
      <p:sp>
        <p:nvSpPr>
          <p:cNvPr id="3" name="Content Placeholder 2">
            <a:extLst>
              <a:ext uri="{FF2B5EF4-FFF2-40B4-BE49-F238E27FC236}">
                <a16:creationId xmlns:a16="http://schemas.microsoft.com/office/drawing/2014/main" id="{BA352754-A24D-212C-580D-870E8D650C05}"/>
              </a:ext>
            </a:extLst>
          </p:cNvPr>
          <p:cNvSpPr>
            <a:spLocks noGrp="1"/>
          </p:cNvSpPr>
          <p:nvPr>
            <p:ph idx="1"/>
          </p:nvPr>
        </p:nvSpPr>
        <p:spPr>
          <a:xfrm>
            <a:off x="1115568" y="2637247"/>
            <a:ext cx="10168128" cy="2636476"/>
          </a:xfrm>
        </p:spPr>
        <p:txBody>
          <a:bodyPr vert="horz" lIns="91440" tIns="45720" rIns="91440" bIns="45720" rtlCol="0" anchor="t">
            <a:normAutofit/>
          </a:bodyPr>
          <a:lstStyle/>
          <a:p>
            <a:r>
              <a:rPr lang="en-US" sz="1500" dirty="0"/>
              <a:t>01</a:t>
            </a:r>
            <a:r>
              <a:rPr lang="en-US" sz="1500" b="1" dirty="0"/>
              <a:t> Core revenue impact</a:t>
            </a:r>
            <a:r>
              <a:rPr lang="en-US" sz="1500" dirty="0"/>
              <a:t>: Every loan approved at </a:t>
            </a:r>
            <a:r>
              <a:rPr lang="en-US" sz="1500" dirty="0" err="1"/>
              <a:t>Finserve</a:t>
            </a:r>
            <a:r>
              <a:rPr lang="en-US" sz="1500" dirty="0"/>
              <a:t> passes through the credit memo step. Automating it speeds up the credit cycle directly.</a:t>
            </a:r>
          </a:p>
          <a:p>
            <a:r>
              <a:rPr lang="en-US" sz="1500" dirty="0"/>
              <a:t>02</a:t>
            </a:r>
            <a:r>
              <a:rPr lang="en-US" sz="1500" b="1" dirty="0"/>
              <a:t> End-to-end demo</a:t>
            </a:r>
            <a:r>
              <a:rPr lang="en-US" sz="1500" dirty="0"/>
              <a:t>: It shows the full pipeline, data engineering, AI analysis, and document generation in one </a:t>
            </a:r>
            <a:r>
              <a:rPr lang="en-US" sz="1500"/>
              <a:t>working prototype.</a:t>
            </a:r>
          </a:p>
          <a:p>
            <a:r>
              <a:rPr lang="en-US" sz="1500" dirty="0"/>
              <a:t>03 </a:t>
            </a:r>
            <a:r>
              <a:rPr lang="en-US" sz="1500" b="1" dirty="0"/>
              <a:t>Domain specificity</a:t>
            </a:r>
            <a:r>
              <a:rPr lang="en-US" sz="1500" dirty="0"/>
              <a:t>: A credit memo requires genuine financial services knowledge to build well. It demonstrate well. It demonstrates real business understanding.</a:t>
            </a:r>
          </a:p>
          <a:p>
            <a:r>
              <a:rPr lang="en-US" sz="1500" dirty="0"/>
              <a:t>04</a:t>
            </a:r>
            <a:r>
              <a:rPr lang="en-US" sz="1500" b="1" dirty="0"/>
              <a:t> Immediate measurability</a:t>
            </a:r>
            <a:r>
              <a:rPr lang="en-US" sz="1500" dirty="0"/>
              <a:t>: Time saved per memo is easy to quality. Even at 2 hours saved per appli</a:t>
            </a:r>
            <a:r>
              <a:rPr lang="en-US" sz="1500"/>
              <a:t>cation, the ROI is visible within  the week.</a:t>
            </a:r>
            <a:endParaRPr lang="en-US" sz="1500" dirty="0"/>
          </a:p>
        </p:txBody>
      </p:sp>
    </p:spTree>
    <p:extLst>
      <p:ext uri="{BB962C8B-B14F-4D97-AF65-F5344CB8AC3E}">
        <p14:creationId xmlns:p14="http://schemas.microsoft.com/office/powerpoint/2010/main" val="748892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7A6BB-6046-3D3B-AC57-A58B04030AF7}"/>
              </a:ext>
            </a:extLst>
          </p:cNvPr>
          <p:cNvSpPr>
            <a:spLocks noGrp="1"/>
          </p:cNvSpPr>
          <p:nvPr>
            <p:ph type="title"/>
          </p:nvPr>
        </p:nvSpPr>
        <p:spPr/>
        <p:txBody>
          <a:bodyPr/>
          <a:lstStyle/>
          <a:p>
            <a:r>
              <a:rPr lang="en-US" sz="3000" b="1" dirty="0"/>
              <a:t>How it works - </a:t>
            </a:r>
            <a:r>
              <a:rPr lang="en-US" sz="3000" b="1"/>
              <a:t>Architecture</a:t>
            </a:r>
            <a:endParaRPr lang="en-US" sz="3000" b="1" dirty="0"/>
          </a:p>
        </p:txBody>
      </p:sp>
      <p:sp>
        <p:nvSpPr>
          <p:cNvPr id="3" name="Text 6">
            <a:extLst>
              <a:ext uri="{FF2B5EF4-FFF2-40B4-BE49-F238E27FC236}">
                <a16:creationId xmlns:a16="http://schemas.microsoft.com/office/drawing/2014/main" id="{F50A3FEC-2A54-932F-46F8-E76A4AD422C8}"/>
              </a:ext>
            </a:extLst>
          </p:cNvPr>
          <p:cNvSpPr/>
          <p:nvPr/>
        </p:nvSpPr>
        <p:spPr>
          <a:xfrm>
            <a:off x="1113091" y="2869502"/>
            <a:ext cx="1192249" cy="287595"/>
          </a:xfrm>
          <a:prstGeom prst="rect">
            <a:avLst/>
          </a:prstGeom>
          <a:solidFill>
            <a:schemeClr val="accent2">
              <a:lumMod val="20000"/>
              <a:lumOff val="8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b="1" dirty="0">
                <a:solidFill>
                  <a:srgbClr val="2D3142"/>
                </a:solidFill>
              </a:rPr>
              <a:t>Data Sources</a:t>
            </a:r>
            <a:endParaRPr lang="en-US" sz="1000" dirty="0"/>
          </a:p>
        </p:txBody>
      </p:sp>
      <p:sp>
        <p:nvSpPr>
          <p:cNvPr id="4" name="Text 7">
            <a:extLst>
              <a:ext uri="{FF2B5EF4-FFF2-40B4-BE49-F238E27FC236}">
                <a16:creationId xmlns:a16="http://schemas.microsoft.com/office/drawing/2014/main" id="{661B509B-0922-954E-AF2A-545C520B118F}"/>
              </a:ext>
            </a:extLst>
          </p:cNvPr>
          <p:cNvSpPr/>
          <p:nvPr/>
        </p:nvSpPr>
        <p:spPr>
          <a:xfrm>
            <a:off x="1135837" y="3155195"/>
            <a:ext cx="1186263" cy="405884"/>
          </a:xfrm>
          <a:prstGeom prst="rect">
            <a:avLst/>
          </a:prstGeom>
          <a:solidFill>
            <a:schemeClr val="accent4">
              <a:lumMod val="40000"/>
              <a:lumOff val="6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 dirty="0">
                <a:solidFill>
                  <a:srgbClr val="8A96A8"/>
                </a:solidFill>
              </a:rPr>
              <a:t>CRM · Core Banking · Loan System</a:t>
            </a:r>
            <a:endParaRPr lang="en-US" sz="800" dirty="0"/>
          </a:p>
        </p:txBody>
      </p:sp>
      <p:sp>
        <p:nvSpPr>
          <p:cNvPr id="5" name="Shape 8">
            <a:extLst>
              <a:ext uri="{FF2B5EF4-FFF2-40B4-BE49-F238E27FC236}">
                <a16:creationId xmlns:a16="http://schemas.microsoft.com/office/drawing/2014/main" id="{4C629136-25D4-EBF2-0FB4-D5D11FE9B42E}"/>
              </a:ext>
            </a:extLst>
          </p:cNvPr>
          <p:cNvSpPr/>
          <p:nvPr/>
        </p:nvSpPr>
        <p:spPr>
          <a:xfrm>
            <a:off x="2347531" y="3006662"/>
            <a:ext cx="109728" cy="0"/>
          </a:xfrm>
          <a:prstGeom prst="line">
            <a:avLst/>
          </a:prstGeom>
          <a:noFill/>
          <a:ln w="12700">
            <a:solidFill>
              <a:srgbClr val="8A96A8"/>
            </a:solidFill>
            <a:prstDash val="solid"/>
          </a:ln>
        </p:spPr>
        <p:txBody>
          <a:bodyPr/>
          <a:lstStyle/>
          <a:p>
            <a:endParaRPr lang="en-US"/>
          </a:p>
        </p:txBody>
      </p:sp>
      <p:sp>
        <p:nvSpPr>
          <p:cNvPr id="6" name="Text 11">
            <a:extLst>
              <a:ext uri="{FF2B5EF4-FFF2-40B4-BE49-F238E27FC236}">
                <a16:creationId xmlns:a16="http://schemas.microsoft.com/office/drawing/2014/main" id="{39A1A06F-035B-CDA4-869D-7E9922016678}"/>
              </a:ext>
            </a:extLst>
          </p:cNvPr>
          <p:cNvSpPr/>
          <p:nvPr/>
        </p:nvSpPr>
        <p:spPr>
          <a:xfrm>
            <a:off x="2539555" y="2869502"/>
            <a:ext cx="1152144" cy="292608"/>
          </a:xfrm>
          <a:prstGeom prst="rect">
            <a:avLst/>
          </a:prstGeom>
          <a:solidFill>
            <a:schemeClr val="accent2">
              <a:lumMod val="20000"/>
              <a:lumOff val="8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b="1" dirty="0">
                <a:solidFill>
                  <a:srgbClr val="2D3142"/>
                </a:solidFill>
              </a:rPr>
              <a:t>Data Engineering</a:t>
            </a:r>
            <a:endParaRPr lang="en-US" sz="1000" dirty="0"/>
          </a:p>
        </p:txBody>
      </p:sp>
      <p:sp>
        <p:nvSpPr>
          <p:cNvPr id="7" name="Text 12">
            <a:extLst>
              <a:ext uri="{FF2B5EF4-FFF2-40B4-BE49-F238E27FC236}">
                <a16:creationId xmlns:a16="http://schemas.microsoft.com/office/drawing/2014/main" id="{17FB78EF-8396-B90D-C367-663B782BB9EF}"/>
              </a:ext>
            </a:extLst>
          </p:cNvPr>
          <p:cNvSpPr/>
          <p:nvPr/>
        </p:nvSpPr>
        <p:spPr>
          <a:xfrm>
            <a:off x="2482690" y="3155195"/>
            <a:ext cx="1254501" cy="405884"/>
          </a:xfrm>
          <a:prstGeom prst="rect">
            <a:avLst/>
          </a:prstGeom>
          <a:solidFill>
            <a:schemeClr val="accent4">
              <a:lumMod val="40000"/>
              <a:lumOff val="6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 dirty="0">
                <a:solidFill>
                  <a:srgbClr val="8A96A8"/>
                </a:solidFill>
              </a:rPr>
              <a:t>Extract · Map · Normalise</a:t>
            </a:r>
            <a:endParaRPr lang="en-US" sz="800" dirty="0"/>
          </a:p>
        </p:txBody>
      </p:sp>
      <p:sp>
        <p:nvSpPr>
          <p:cNvPr id="8" name="Shape 13">
            <a:extLst>
              <a:ext uri="{FF2B5EF4-FFF2-40B4-BE49-F238E27FC236}">
                <a16:creationId xmlns:a16="http://schemas.microsoft.com/office/drawing/2014/main" id="{4F6D7266-C3DC-5DF9-9E47-44A2FDF8CF5B}"/>
              </a:ext>
            </a:extLst>
          </p:cNvPr>
          <p:cNvSpPr/>
          <p:nvPr/>
        </p:nvSpPr>
        <p:spPr>
          <a:xfrm>
            <a:off x="3773995" y="3006662"/>
            <a:ext cx="109728" cy="0"/>
          </a:xfrm>
          <a:prstGeom prst="line">
            <a:avLst/>
          </a:prstGeom>
          <a:noFill/>
          <a:ln w="12700">
            <a:solidFill>
              <a:srgbClr val="8A96A8"/>
            </a:solidFill>
            <a:prstDash val="solid"/>
          </a:ln>
        </p:spPr>
        <p:txBody>
          <a:bodyPr/>
          <a:lstStyle/>
          <a:p>
            <a:endParaRPr lang="en-US"/>
          </a:p>
        </p:txBody>
      </p:sp>
      <p:sp>
        <p:nvSpPr>
          <p:cNvPr id="9" name="Text 16">
            <a:extLst>
              <a:ext uri="{FF2B5EF4-FFF2-40B4-BE49-F238E27FC236}">
                <a16:creationId xmlns:a16="http://schemas.microsoft.com/office/drawing/2014/main" id="{5E52A0FE-C35B-E30D-CCC5-4DEACA10C251}"/>
              </a:ext>
            </a:extLst>
          </p:cNvPr>
          <p:cNvSpPr/>
          <p:nvPr/>
        </p:nvSpPr>
        <p:spPr>
          <a:xfrm>
            <a:off x="3904916" y="2869502"/>
            <a:ext cx="1216841" cy="285420"/>
          </a:xfrm>
          <a:prstGeom prst="rect">
            <a:avLst/>
          </a:prstGeom>
          <a:solidFill>
            <a:schemeClr val="accent2">
              <a:lumMod val="20000"/>
              <a:lumOff val="8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b="1" dirty="0">
                <a:solidFill>
                  <a:srgbClr val="2D3142"/>
                </a:solidFill>
              </a:rPr>
              <a:t>client_data.json</a:t>
            </a:r>
            <a:endParaRPr lang="en-US" sz="1000" dirty="0"/>
          </a:p>
        </p:txBody>
      </p:sp>
      <p:sp>
        <p:nvSpPr>
          <p:cNvPr id="10" name="Text 17">
            <a:extLst>
              <a:ext uri="{FF2B5EF4-FFF2-40B4-BE49-F238E27FC236}">
                <a16:creationId xmlns:a16="http://schemas.microsoft.com/office/drawing/2014/main" id="{5C5406B9-44D2-1FC1-37AE-0DB8CA1A7A71}"/>
              </a:ext>
            </a:extLst>
          </p:cNvPr>
          <p:cNvSpPr/>
          <p:nvPr/>
        </p:nvSpPr>
        <p:spPr>
          <a:xfrm>
            <a:off x="3907404" y="3152195"/>
            <a:ext cx="1219132" cy="402135"/>
          </a:xfrm>
          <a:prstGeom prst="rect">
            <a:avLst/>
          </a:prstGeom>
          <a:solidFill>
            <a:schemeClr val="accent4">
              <a:lumMod val="40000"/>
              <a:lumOff val="6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 dirty="0">
                <a:solidFill>
                  <a:srgbClr val="8A96A8"/>
                </a:solidFill>
              </a:rPr>
              <a:t>Unified client profile</a:t>
            </a:r>
            <a:endParaRPr lang="en-US" sz="800" dirty="0"/>
          </a:p>
        </p:txBody>
      </p:sp>
      <p:sp>
        <p:nvSpPr>
          <p:cNvPr id="11" name="Shape 18">
            <a:extLst>
              <a:ext uri="{FF2B5EF4-FFF2-40B4-BE49-F238E27FC236}">
                <a16:creationId xmlns:a16="http://schemas.microsoft.com/office/drawing/2014/main" id="{E3D7DAFB-9E71-D1E8-A54C-D933E912122A}"/>
              </a:ext>
            </a:extLst>
          </p:cNvPr>
          <p:cNvSpPr/>
          <p:nvPr/>
        </p:nvSpPr>
        <p:spPr>
          <a:xfrm>
            <a:off x="5200459" y="3006662"/>
            <a:ext cx="109728" cy="0"/>
          </a:xfrm>
          <a:prstGeom prst="line">
            <a:avLst/>
          </a:prstGeom>
          <a:noFill/>
          <a:ln w="12700">
            <a:solidFill>
              <a:srgbClr val="8A96A8"/>
            </a:solidFill>
            <a:prstDash val="solid"/>
          </a:ln>
        </p:spPr>
        <p:txBody>
          <a:bodyPr/>
          <a:lstStyle/>
          <a:p>
            <a:endParaRPr lang="en-US"/>
          </a:p>
        </p:txBody>
      </p:sp>
      <p:sp>
        <p:nvSpPr>
          <p:cNvPr id="12" name="Text 21">
            <a:extLst>
              <a:ext uri="{FF2B5EF4-FFF2-40B4-BE49-F238E27FC236}">
                <a16:creationId xmlns:a16="http://schemas.microsoft.com/office/drawing/2014/main" id="{34EF4520-D7B0-B510-1AAC-C3561EDBBF36}"/>
              </a:ext>
            </a:extLst>
          </p:cNvPr>
          <p:cNvSpPr/>
          <p:nvPr/>
        </p:nvSpPr>
        <p:spPr>
          <a:xfrm>
            <a:off x="5380577" y="2869502"/>
            <a:ext cx="1161579" cy="284296"/>
          </a:xfrm>
          <a:prstGeom prst="rect">
            <a:avLst/>
          </a:prstGeom>
          <a:solidFill>
            <a:schemeClr val="accent2">
              <a:lumMod val="20000"/>
              <a:lumOff val="8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b="1" dirty="0">
                <a:solidFill>
                  <a:srgbClr val="2D3142"/>
                </a:solidFill>
              </a:rPr>
              <a:t>Groq API (Llama 3)</a:t>
            </a:r>
            <a:endParaRPr lang="en-US" sz="1000" dirty="0"/>
          </a:p>
        </p:txBody>
      </p:sp>
      <p:sp>
        <p:nvSpPr>
          <p:cNvPr id="13" name="Text 22">
            <a:extLst>
              <a:ext uri="{FF2B5EF4-FFF2-40B4-BE49-F238E27FC236}">
                <a16:creationId xmlns:a16="http://schemas.microsoft.com/office/drawing/2014/main" id="{4A9FE437-8D49-EA51-1338-C035B9317A1D}"/>
              </a:ext>
            </a:extLst>
          </p:cNvPr>
          <p:cNvSpPr/>
          <p:nvPr/>
        </p:nvSpPr>
        <p:spPr>
          <a:xfrm>
            <a:off x="5384110" y="3152195"/>
            <a:ext cx="1160517" cy="393762"/>
          </a:xfrm>
          <a:prstGeom prst="rect">
            <a:avLst/>
          </a:prstGeom>
          <a:solidFill>
            <a:schemeClr val="accent4">
              <a:lumMod val="40000"/>
              <a:lumOff val="6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 dirty="0">
                <a:solidFill>
                  <a:srgbClr val="8A96A8"/>
                </a:solidFill>
              </a:rPr>
              <a:t>Ratios · Risks · Narrative</a:t>
            </a:r>
            <a:endParaRPr lang="en-US" sz="800" dirty="0"/>
          </a:p>
        </p:txBody>
      </p:sp>
      <p:sp>
        <p:nvSpPr>
          <p:cNvPr id="14" name="Shape 23">
            <a:extLst>
              <a:ext uri="{FF2B5EF4-FFF2-40B4-BE49-F238E27FC236}">
                <a16:creationId xmlns:a16="http://schemas.microsoft.com/office/drawing/2014/main" id="{51F30190-42A8-5EFB-F2AC-4BCC136BEE9F}"/>
              </a:ext>
            </a:extLst>
          </p:cNvPr>
          <p:cNvSpPr/>
          <p:nvPr/>
        </p:nvSpPr>
        <p:spPr>
          <a:xfrm>
            <a:off x="6626923" y="3006662"/>
            <a:ext cx="109728" cy="0"/>
          </a:xfrm>
          <a:prstGeom prst="line">
            <a:avLst/>
          </a:prstGeom>
          <a:noFill/>
          <a:ln w="12700">
            <a:solidFill>
              <a:srgbClr val="8A96A8"/>
            </a:solidFill>
            <a:prstDash val="solid"/>
          </a:ln>
        </p:spPr>
        <p:txBody>
          <a:bodyPr/>
          <a:lstStyle/>
          <a:p>
            <a:endParaRPr lang="en-US"/>
          </a:p>
        </p:txBody>
      </p:sp>
      <p:sp>
        <p:nvSpPr>
          <p:cNvPr id="15" name="Text 26">
            <a:extLst>
              <a:ext uri="{FF2B5EF4-FFF2-40B4-BE49-F238E27FC236}">
                <a16:creationId xmlns:a16="http://schemas.microsoft.com/office/drawing/2014/main" id="{E75F95B1-8016-8F01-8CC1-33567CAB33C0}"/>
              </a:ext>
            </a:extLst>
          </p:cNvPr>
          <p:cNvSpPr/>
          <p:nvPr/>
        </p:nvSpPr>
        <p:spPr>
          <a:xfrm>
            <a:off x="6768627" y="2869502"/>
            <a:ext cx="1252784" cy="281826"/>
          </a:xfrm>
          <a:prstGeom prst="rect">
            <a:avLst/>
          </a:prstGeom>
          <a:solidFill>
            <a:schemeClr val="accent2">
              <a:lumMod val="20000"/>
              <a:lumOff val="8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b="1" dirty="0">
                <a:solidFill>
                  <a:srgbClr val="2D3142"/>
                </a:solidFill>
              </a:rPr>
              <a:t>Document Builder</a:t>
            </a:r>
            <a:endParaRPr lang="en-US" sz="1000" dirty="0"/>
          </a:p>
        </p:txBody>
      </p:sp>
      <p:sp>
        <p:nvSpPr>
          <p:cNvPr id="16" name="Text 27">
            <a:extLst>
              <a:ext uri="{FF2B5EF4-FFF2-40B4-BE49-F238E27FC236}">
                <a16:creationId xmlns:a16="http://schemas.microsoft.com/office/drawing/2014/main" id="{4C54684F-E47F-2531-6F1B-0993E89BC084}"/>
              </a:ext>
            </a:extLst>
          </p:cNvPr>
          <p:cNvSpPr/>
          <p:nvPr/>
        </p:nvSpPr>
        <p:spPr>
          <a:xfrm>
            <a:off x="6768706" y="3152195"/>
            <a:ext cx="1252626" cy="393762"/>
          </a:xfrm>
          <a:prstGeom prst="rect">
            <a:avLst/>
          </a:prstGeom>
          <a:solidFill>
            <a:schemeClr val="accent4">
              <a:lumMod val="40000"/>
              <a:lumOff val="6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 dirty="0">
                <a:solidFill>
                  <a:srgbClr val="8A96A8"/>
                </a:solidFill>
              </a:rPr>
              <a:t>Python · python-docx</a:t>
            </a:r>
            <a:endParaRPr lang="en-US" sz="800" dirty="0"/>
          </a:p>
        </p:txBody>
      </p:sp>
      <p:sp>
        <p:nvSpPr>
          <p:cNvPr id="17" name="Shape 28">
            <a:extLst>
              <a:ext uri="{FF2B5EF4-FFF2-40B4-BE49-F238E27FC236}">
                <a16:creationId xmlns:a16="http://schemas.microsoft.com/office/drawing/2014/main" id="{571285A6-5C39-4107-A991-5549A9129C77}"/>
              </a:ext>
            </a:extLst>
          </p:cNvPr>
          <p:cNvSpPr/>
          <p:nvPr/>
        </p:nvSpPr>
        <p:spPr>
          <a:xfrm>
            <a:off x="8053387" y="3006662"/>
            <a:ext cx="109728" cy="0"/>
          </a:xfrm>
          <a:prstGeom prst="line">
            <a:avLst/>
          </a:prstGeom>
          <a:noFill/>
          <a:ln w="12700">
            <a:solidFill>
              <a:srgbClr val="8A96A8"/>
            </a:solidFill>
            <a:prstDash val="solid"/>
          </a:ln>
        </p:spPr>
        <p:txBody>
          <a:bodyPr/>
          <a:lstStyle/>
          <a:p>
            <a:endParaRPr lang="en-US"/>
          </a:p>
        </p:txBody>
      </p:sp>
      <p:sp>
        <p:nvSpPr>
          <p:cNvPr id="18" name="Text 31">
            <a:extLst>
              <a:ext uri="{FF2B5EF4-FFF2-40B4-BE49-F238E27FC236}">
                <a16:creationId xmlns:a16="http://schemas.microsoft.com/office/drawing/2014/main" id="{324AF05D-07AE-ED27-F568-8F4E12E48641}"/>
              </a:ext>
            </a:extLst>
          </p:cNvPr>
          <p:cNvSpPr/>
          <p:nvPr/>
        </p:nvSpPr>
        <p:spPr>
          <a:xfrm>
            <a:off x="8204975" y="2869502"/>
            <a:ext cx="1450923" cy="284296"/>
          </a:xfrm>
          <a:prstGeom prst="rect">
            <a:avLst/>
          </a:prstGeom>
          <a:solidFill>
            <a:schemeClr val="accent2">
              <a:lumMod val="20000"/>
              <a:lumOff val="8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b="1" dirty="0">
                <a:solidFill>
                  <a:srgbClr val="2D3142"/>
                </a:solidFill>
              </a:rPr>
              <a:t>credit_memo.docx</a:t>
            </a:r>
            <a:endParaRPr lang="en-US" sz="1000" dirty="0"/>
          </a:p>
        </p:txBody>
      </p:sp>
      <p:sp>
        <p:nvSpPr>
          <p:cNvPr id="19" name="Text 32">
            <a:extLst>
              <a:ext uri="{FF2B5EF4-FFF2-40B4-BE49-F238E27FC236}">
                <a16:creationId xmlns:a16="http://schemas.microsoft.com/office/drawing/2014/main" id="{580285DD-F415-C95C-D1D8-AFFFB46B4EF4}"/>
              </a:ext>
            </a:extLst>
          </p:cNvPr>
          <p:cNvSpPr/>
          <p:nvPr/>
        </p:nvSpPr>
        <p:spPr>
          <a:xfrm>
            <a:off x="8202834" y="3152195"/>
            <a:ext cx="1440110" cy="386807"/>
          </a:xfrm>
          <a:prstGeom prst="rect">
            <a:avLst/>
          </a:prstGeom>
          <a:solidFill>
            <a:schemeClr val="accent4">
              <a:lumMod val="40000"/>
              <a:lumOff val="6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 dirty="0">
                <a:solidFill>
                  <a:srgbClr val="8A96A8"/>
                </a:solidFill>
              </a:rPr>
              <a:t>Ready for committee review</a:t>
            </a:r>
            <a:endParaRPr lang="en-US" sz="800" dirty="0"/>
          </a:p>
        </p:txBody>
      </p:sp>
      <p:sp>
        <p:nvSpPr>
          <p:cNvPr id="20" name="TextBox 19">
            <a:extLst>
              <a:ext uri="{FF2B5EF4-FFF2-40B4-BE49-F238E27FC236}">
                <a16:creationId xmlns:a16="http://schemas.microsoft.com/office/drawing/2014/main" id="{12BA8449-D5BF-E637-121B-B42DA1E9525F}"/>
              </a:ext>
            </a:extLst>
          </p:cNvPr>
          <p:cNvSpPr txBox="1"/>
          <p:nvPr/>
        </p:nvSpPr>
        <p:spPr>
          <a:xfrm>
            <a:off x="1114749" y="3997394"/>
            <a:ext cx="8529636"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dirty="0">
                <a:solidFill>
                  <a:srgbClr val="2D3142"/>
                </a:solidFill>
                <a:latin typeface="Calibri"/>
                <a:ea typeface="Calibri"/>
                <a:cs typeface="Calibri"/>
              </a:rPr>
              <a:t>PoC </a:t>
            </a:r>
            <a:r>
              <a:rPr lang="en-US" sz="1300" b="1" dirty="0" err="1">
                <a:solidFill>
                  <a:srgbClr val="2D3142"/>
                </a:solidFill>
                <a:latin typeface="Calibri"/>
                <a:ea typeface="Calibri"/>
                <a:cs typeface="Calibri"/>
              </a:rPr>
              <a:t>note:</a:t>
            </a:r>
            <a:r>
              <a:rPr lang="en-US" sz="1300" b="1" dirty="0">
                <a:solidFill>
                  <a:srgbClr val="2D3142"/>
                </a:solidFill>
                <a:latin typeface="Calibri"/>
                <a:ea typeface="Calibri"/>
                <a:cs typeface="Calibri"/>
              </a:rPr>
              <a:t> </a:t>
            </a:r>
            <a:r>
              <a:rPr lang="en-US" sz="1300" dirty="0" err="1">
                <a:solidFill>
                  <a:srgbClr val="2D3142"/>
                </a:solidFill>
                <a:latin typeface="Calibri"/>
                <a:ea typeface="Calibri"/>
                <a:cs typeface="Calibri"/>
              </a:rPr>
              <a:t>client_data.json</a:t>
            </a:r>
            <a:r>
              <a:rPr lang="en-US" sz="1300" dirty="0">
                <a:solidFill>
                  <a:srgbClr val="2D3142"/>
                </a:solidFill>
                <a:latin typeface="Calibri"/>
                <a:ea typeface="Calibri"/>
                <a:cs typeface="Calibri"/>
              </a:rPr>
              <a:t> simulates the data engineering layer output. In production, Python calls each system's API and merges responses in real time.</a:t>
            </a:r>
            <a:endParaRPr lang="en-US" sz="1300" dirty="0">
              <a:latin typeface="Calibri"/>
              <a:ea typeface="Calibri"/>
              <a:cs typeface="Calibri"/>
            </a:endParaRPr>
          </a:p>
          <a:p>
            <a:pPr algn="l"/>
            <a:endParaRPr lang="en-US" dirty="0"/>
          </a:p>
        </p:txBody>
      </p:sp>
      <p:sp>
        <p:nvSpPr>
          <p:cNvPr id="31" name="Text 0">
            <a:extLst>
              <a:ext uri="{FF2B5EF4-FFF2-40B4-BE49-F238E27FC236}">
                <a16:creationId xmlns:a16="http://schemas.microsoft.com/office/drawing/2014/main" id="{C93B2F12-5534-6480-1436-6287F86FA4D9}"/>
              </a:ext>
            </a:extLst>
          </p:cNvPr>
          <p:cNvSpPr/>
          <p:nvPr/>
        </p:nvSpPr>
        <p:spPr>
          <a:xfrm>
            <a:off x="9194483" y="6231255"/>
            <a:ext cx="457200" cy="2286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buNone/>
            </a:pPr>
            <a:r>
              <a:rPr lang="en-US" sz="900" dirty="0">
                <a:solidFill>
                  <a:srgbClr val="8A96A8"/>
                </a:solidFill>
              </a:rPr>
              <a:t>7</a:t>
            </a:r>
            <a:endParaRPr lang="en-US" sz="900" dirty="0"/>
          </a:p>
        </p:txBody>
      </p:sp>
      <p:sp>
        <p:nvSpPr>
          <p:cNvPr id="32" name="Text 36">
            <a:extLst>
              <a:ext uri="{FF2B5EF4-FFF2-40B4-BE49-F238E27FC236}">
                <a16:creationId xmlns:a16="http://schemas.microsoft.com/office/drawing/2014/main" id="{B61F711A-8E41-AD65-1C25-06C7F0478C7E}"/>
              </a:ext>
            </a:extLst>
          </p:cNvPr>
          <p:cNvSpPr/>
          <p:nvPr/>
        </p:nvSpPr>
        <p:spPr>
          <a:xfrm>
            <a:off x="1056323" y="4676775"/>
            <a:ext cx="822960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1E2761"/>
                </a:solidFill>
              </a:rPr>
              <a:t>What the AI does</a:t>
            </a:r>
            <a:endParaRPr lang="en-US" sz="1200" dirty="0"/>
          </a:p>
        </p:txBody>
      </p:sp>
      <p:sp>
        <p:nvSpPr>
          <p:cNvPr id="33" name="Text 38">
            <a:extLst>
              <a:ext uri="{FF2B5EF4-FFF2-40B4-BE49-F238E27FC236}">
                <a16:creationId xmlns:a16="http://schemas.microsoft.com/office/drawing/2014/main" id="{CF84C8EF-6368-0C6C-CDD6-4433FA8EB1E4}"/>
              </a:ext>
            </a:extLst>
          </p:cNvPr>
          <p:cNvSpPr/>
          <p:nvPr/>
        </p:nvSpPr>
        <p:spPr>
          <a:xfrm>
            <a:off x="1147762" y="5088255"/>
            <a:ext cx="1828800" cy="3474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3A7BD5"/>
                </a:solidFill>
              </a:rPr>
              <a:t>Calculates ratios</a:t>
            </a:r>
            <a:endParaRPr lang="en-US" sz="1100" dirty="0"/>
          </a:p>
        </p:txBody>
      </p:sp>
      <p:sp>
        <p:nvSpPr>
          <p:cNvPr id="34" name="Text 39">
            <a:extLst>
              <a:ext uri="{FF2B5EF4-FFF2-40B4-BE49-F238E27FC236}">
                <a16:creationId xmlns:a16="http://schemas.microsoft.com/office/drawing/2014/main" id="{4553C380-8DF1-5E3F-9278-83561BE1AD92}"/>
              </a:ext>
            </a:extLst>
          </p:cNvPr>
          <p:cNvSpPr/>
          <p:nvPr/>
        </p:nvSpPr>
        <p:spPr>
          <a:xfrm>
            <a:off x="1147762" y="5454015"/>
            <a:ext cx="1828800" cy="82296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2D3142"/>
                </a:solidFill>
              </a:rPr>
              <a:t>Debt/EBITDA, EBITDA margin, revenue growth, Debt/Equity</a:t>
            </a:r>
            <a:endParaRPr lang="en-US" sz="1000" dirty="0"/>
          </a:p>
        </p:txBody>
      </p:sp>
      <p:sp>
        <p:nvSpPr>
          <p:cNvPr id="35" name="Text 41">
            <a:extLst>
              <a:ext uri="{FF2B5EF4-FFF2-40B4-BE49-F238E27FC236}">
                <a16:creationId xmlns:a16="http://schemas.microsoft.com/office/drawing/2014/main" id="{AA8C1267-D6A9-3B38-B181-2701500642A3}"/>
              </a:ext>
            </a:extLst>
          </p:cNvPr>
          <p:cNvSpPr/>
          <p:nvPr/>
        </p:nvSpPr>
        <p:spPr>
          <a:xfrm>
            <a:off x="3296603" y="5088255"/>
            <a:ext cx="1828800" cy="3474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3A7BD5"/>
                </a:solidFill>
              </a:rPr>
              <a:t>Identifies trends</a:t>
            </a:r>
            <a:endParaRPr lang="en-US" sz="1100" dirty="0"/>
          </a:p>
        </p:txBody>
      </p:sp>
      <p:sp>
        <p:nvSpPr>
          <p:cNvPr id="36" name="Text 42">
            <a:extLst>
              <a:ext uri="{FF2B5EF4-FFF2-40B4-BE49-F238E27FC236}">
                <a16:creationId xmlns:a16="http://schemas.microsoft.com/office/drawing/2014/main" id="{FEB649AA-D7D4-D642-D647-E1B12312B914}"/>
              </a:ext>
            </a:extLst>
          </p:cNvPr>
          <p:cNvSpPr/>
          <p:nvPr/>
        </p:nvSpPr>
        <p:spPr>
          <a:xfrm>
            <a:off x="3296603" y="5454015"/>
            <a:ext cx="1828800" cy="82296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2D3142"/>
                </a:solidFill>
              </a:rPr>
              <a:t>3-year revenue and profitability trajectory</a:t>
            </a:r>
            <a:endParaRPr lang="en-US" sz="1000" dirty="0"/>
          </a:p>
        </p:txBody>
      </p:sp>
      <p:sp>
        <p:nvSpPr>
          <p:cNvPr id="37" name="Text 44">
            <a:extLst>
              <a:ext uri="{FF2B5EF4-FFF2-40B4-BE49-F238E27FC236}">
                <a16:creationId xmlns:a16="http://schemas.microsoft.com/office/drawing/2014/main" id="{44286FC1-83D5-7581-4DF3-750B09931318}"/>
              </a:ext>
            </a:extLst>
          </p:cNvPr>
          <p:cNvSpPr/>
          <p:nvPr/>
        </p:nvSpPr>
        <p:spPr>
          <a:xfrm>
            <a:off x="5445443" y="5088255"/>
            <a:ext cx="1828800" cy="3474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3A7BD5"/>
                </a:solidFill>
              </a:rPr>
              <a:t>Flags credit risks</a:t>
            </a:r>
            <a:endParaRPr lang="en-US" sz="1100" dirty="0"/>
          </a:p>
        </p:txBody>
      </p:sp>
      <p:sp>
        <p:nvSpPr>
          <p:cNvPr id="38" name="Text 45">
            <a:extLst>
              <a:ext uri="{FF2B5EF4-FFF2-40B4-BE49-F238E27FC236}">
                <a16:creationId xmlns:a16="http://schemas.microsoft.com/office/drawing/2014/main" id="{2972AE39-2213-C157-D188-E9C1CD5C2E51}"/>
              </a:ext>
            </a:extLst>
          </p:cNvPr>
          <p:cNvSpPr/>
          <p:nvPr/>
        </p:nvSpPr>
        <p:spPr>
          <a:xfrm>
            <a:off x="5445443" y="5454015"/>
            <a:ext cx="1828800" cy="82296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2D3142"/>
                </a:solidFill>
              </a:rPr>
              <a:t>Leverage, concentration, collateral gaps</a:t>
            </a:r>
            <a:endParaRPr lang="en-US" sz="1000" dirty="0"/>
          </a:p>
        </p:txBody>
      </p:sp>
      <p:sp>
        <p:nvSpPr>
          <p:cNvPr id="39" name="Text 47">
            <a:extLst>
              <a:ext uri="{FF2B5EF4-FFF2-40B4-BE49-F238E27FC236}">
                <a16:creationId xmlns:a16="http://schemas.microsoft.com/office/drawing/2014/main" id="{127E7980-6C23-3064-FEEA-766CB22D8D91}"/>
              </a:ext>
            </a:extLst>
          </p:cNvPr>
          <p:cNvSpPr/>
          <p:nvPr/>
        </p:nvSpPr>
        <p:spPr>
          <a:xfrm>
            <a:off x="7594282" y="5088255"/>
            <a:ext cx="1828800" cy="3474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3A7BD5"/>
                </a:solidFill>
              </a:rPr>
              <a:t>Writes the narrative</a:t>
            </a:r>
            <a:endParaRPr lang="en-US" sz="1100" dirty="0"/>
          </a:p>
        </p:txBody>
      </p:sp>
      <p:sp>
        <p:nvSpPr>
          <p:cNvPr id="40" name="Text 48">
            <a:extLst>
              <a:ext uri="{FF2B5EF4-FFF2-40B4-BE49-F238E27FC236}">
                <a16:creationId xmlns:a16="http://schemas.microsoft.com/office/drawing/2014/main" id="{C371B1C9-E5D2-28E2-808C-2F5156779714}"/>
              </a:ext>
            </a:extLst>
          </p:cNvPr>
          <p:cNvSpPr/>
          <p:nvPr/>
        </p:nvSpPr>
        <p:spPr>
          <a:xfrm>
            <a:off x="7594282" y="5454015"/>
            <a:ext cx="1828800" cy="82296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2D3142"/>
                </a:solidFill>
              </a:rPr>
              <a:t>Client overview, financial commentary, recommendation</a:t>
            </a:r>
            <a:endParaRPr lang="en-US" sz="1000" dirty="0"/>
          </a:p>
        </p:txBody>
      </p:sp>
      <mc:AlternateContent xmlns:mc="http://schemas.openxmlformats.org/markup-compatibility/2006" xmlns:p14="http://schemas.microsoft.com/office/powerpoint/2010/main">
        <mc:Choice Requires="p14">
          <p:contentPart p14:bwMode="auto" r:id="rId2">
            <p14:nvContentPartPr>
              <p14:cNvPr id="21" name="Ink 20">
                <a:extLst>
                  <a:ext uri="{FF2B5EF4-FFF2-40B4-BE49-F238E27FC236}">
                    <a16:creationId xmlns:a16="http://schemas.microsoft.com/office/drawing/2014/main" id="{08FC7FBD-EFAD-0467-F9E2-AA8E332CBC6C}"/>
                  </a:ext>
                </a:extLst>
              </p14:cNvPr>
              <p14:cNvContentPartPr/>
              <p14:nvPr/>
            </p14:nvContentPartPr>
            <p14:xfrm>
              <a:off x="745613" y="3359354"/>
              <a:ext cx="12290" cy="12290"/>
            </p14:xfrm>
          </p:contentPart>
        </mc:Choice>
        <mc:Fallback xmlns="">
          <p:pic>
            <p:nvPicPr>
              <p:cNvPr id="21" name="Ink 20">
                <a:extLst>
                  <a:ext uri="{FF2B5EF4-FFF2-40B4-BE49-F238E27FC236}">
                    <a16:creationId xmlns:a16="http://schemas.microsoft.com/office/drawing/2014/main" id="{08FC7FBD-EFAD-0467-F9E2-AA8E332CBC6C}"/>
                  </a:ext>
                </a:extLst>
              </p:cNvPr>
              <p:cNvPicPr/>
              <p:nvPr/>
            </p:nvPicPr>
            <p:blipFill>
              <a:blip r:embed="rId3"/>
              <a:stretch>
                <a:fillRect/>
              </a:stretch>
            </p:blipFill>
            <p:spPr>
              <a:xfrm>
                <a:off x="-1085597" y="-327646"/>
                <a:ext cx="3687000" cy="7374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2" name="Ink 21">
                <a:extLst>
                  <a:ext uri="{FF2B5EF4-FFF2-40B4-BE49-F238E27FC236}">
                    <a16:creationId xmlns:a16="http://schemas.microsoft.com/office/drawing/2014/main" id="{E37F64DF-BA5D-291E-D3F8-368B2DA70116}"/>
                  </a:ext>
                </a:extLst>
              </p14:cNvPr>
              <p14:cNvContentPartPr/>
              <p14:nvPr/>
            </p14:nvContentPartPr>
            <p14:xfrm>
              <a:off x="467032" y="3572387"/>
              <a:ext cx="12290" cy="12290"/>
            </p14:xfrm>
          </p:contentPart>
        </mc:Choice>
        <mc:Fallback xmlns="">
          <p:pic>
            <p:nvPicPr>
              <p:cNvPr id="22" name="Ink 21">
                <a:extLst>
                  <a:ext uri="{FF2B5EF4-FFF2-40B4-BE49-F238E27FC236}">
                    <a16:creationId xmlns:a16="http://schemas.microsoft.com/office/drawing/2014/main" id="{E37F64DF-BA5D-291E-D3F8-368B2DA70116}"/>
                  </a:ext>
                </a:extLst>
              </p:cNvPr>
              <p:cNvPicPr/>
              <p:nvPr/>
            </p:nvPicPr>
            <p:blipFill>
              <a:blip r:embed="rId3"/>
              <a:stretch>
                <a:fillRect/>
              </a:stretch>
            </p:blipFill>
            <p:spPr>
              <a:xfrm>
                <a:off x="-1376468" y="-114613"/>
                <a:ext cx="3687000" cy="7374000"/>
              </a:xfrm>
              <a:prstGeom prst="rect">
                <a:avLst/>
              </a:prstGeom>
            </p:spPr>
          </p:pic>
        </mc:Fallback>
      </mc:AlternateContent>
    </p:spTree>
    <p:extLst>
      <p:ext uri="{BB962C8B-B14F-4D97-AF65-F5344CB8AC3E}">
        <p14:creationId xmlns:p14="http://schemas.microsoft.com/office/powerpoint/2010/main" val="805669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D0812-DEC4-8F1B-09A2-6551B8BE1D8E}"/>
              </a:ext>
            </a:extLst>
          </p:cNvPr>
          <p:cNvSpPr>
            <a:spLocks noGrp="1"/>
          </p:cNvSpPr>
          <p:nvPr>
            <p:ph type="title"/>
          </p:nvPr>
        </p:nvSpPr>
        <p:spPr/>
        <p:txBody>
          <a:bodyPr>
            <a:normAutofit/>
          </a:bodyPr>
          <a:lstStyle/>
          <a:p>
            <a:r>
              <a:rPr lang="en-US" sz="3000" b="1"/>
              <a:t>What tool produces</a:t>
            </a:r>
          </a:p>
        </p:txBody>
      </p:sp>
      <p:sp>
        <p:nvSpPr>
          <p:cNvPr id="4" name="Text Placeholder 3">
            <a:extLst>
              <a:ext uri="{FF2B5EF4-FFF2-40B4-BE49-F238E27FC236}">
                <a16:creationId xmlns:a16="http://schemas.microsoft.com/office/drawing/2014/main" id="{460B0C7D-A089-EF1D-8951-E6F2A69A5848}"/>
              </a:ext>
            </a:extLst>
          </p:cNvPr>
          <p:cNvSpPr>
            <a:spLocks noGrp="1"/>
          </p:cNvSpPr>
          <p:nvPr>
            <p:ph type="body" idx="1"/>
          </p:nvPr>
        </p:nvSpPr>
        <p:spPr/>
        <p:txBody>
          <a:bodyPr/>
          <a:lstStyle/>
          <a:p>
            <a:r>
              <a:rPr lang="en-US"/>
              <a:t>Credit memo section</a:t>
            </a:r>
          </a:p>
        </p:txBody>
      </p:sp>
      <p:sp>
        <p:nvSpPr>
          <p:cNvPr id="3" name="Content Placeholder 2">
            <a:extLst>
              <a:ext uri="{FF2B5EF4-FFF2-40B4-BE49-F238E27FC236}">
                <a16:creationId xmlns:a16="http://schemas.microsoft.com/office/drawing/2014/main" id="{1E93787A-6E4E-69D9-6545-60E7BFF0744C}"/>
              </a:ext>
            </a:extLst>
          </p:cNvPr>
          <p:cNvSpPr>
            <a:spLocks noGrp="1"/>
          </p:cNvSpPr>
          <p:nvPr>
            <p:ph sz="half" idx="2"/>
          </p:nvPr>
        </p:nvSpPr>
        <p:spPr/>
        <p:txBody>
          <a:bodyPr vert="horz" lIns="91440" tIns="45720" rIns="91440" bIns="45720" rtlCol="0" anchor="t">
            <a:normAutofit/>
          </a:bodyPr>
          <a:lstStyle/>
          <a:p>
            <a:r>
              <a:rPr lang="en-US" sz="1100">
                <a:solidFill>
                  <a:srgbClr val="2D3142"/>
                </a:solidFill>
                <a:ea typeface="+mn-lt"/>
                <a:cs typeface="+mn-lt"/>
              </a:rPr>
              <a:t>Application summary table </a:t>
            </a:r>
            <a:endParaRPr lang="en-US" sz="1100">
              <a:latin typeface="Calibri"/>
              <a:ea typeface="Calibri"/>
              <a:cs typeface="Calibri"/>
            </a:endParaRPr>
          </a:p>
          <a:p>
            <a:r>
              <a:rPr lang="en-US" sz="1100">
                <a:solidFill>
                  <a:srgbClr val="2D3142"/>
                </a:solidFill>
                <a:ea typeface="+mn-lt"/>
                <a:cs typeface="+mn-lt"/>
              </a:rPr>
              <a:t>Client overview </a:t>
            </a:r>
            <a:endParaRPr lang="en-US"/>
          </a:p>
          <a:p>
            <a:r>
              <a:rPr lang="en-US" sz="1100">
                <a:solidFill>
                  <a:srgbClr val="2D3142"/>
                </a:solidFill>
                <a:ea typeface="+mn-lt"/>
                <a:cs typeface="+mn-lt"/>
              </a:rPr>
              <a:t>Loan request details </a:t>
            </a:r>
            <a:endParaRPr lang="en-US"/>
          </a:p>
          <a:p>
            <a:r>
              <a:rPr lang="en-US" sz="1100">
                <a:solidFill>
                  <a:srgbClr val="2D3142"/>
                </a:solidFill>
                <a:ea typeface="+mn-lt"/>
                <a:cs typeface="+mn-lt"/>
              </a:rPr>
              <a:t>3-year financial table (PLN) </a:t>
            </a:r>
            <a:endParaRPr lang="en-US"/>
          </a:p>
          <a:p>
            <a:r>
              <a:rPr lang="en-US" sz="1100">
                <a:solidFill>
                  <a:srgbClr val="2D3142"/>
                </a:solidFill>
                <a:ea typeface="+mn-lt"/>
                <a:cs typeface="+mn-lt"/>
              </a:rPr>
              <a:t>Key ratios — Debt/EBITDA, EBITDA margin, growth </a:t>
            </a:r>
            <a:endParaRPr lang="en-US"/>
          </a:p>
          <a:p>
            <a:r>
              <a:rPr lang="en-US" sz="1100">
                <a:solidFill>
                  <a:srgbClr val="2D3142"/>
                </a:solidFill>
                <a:ea typeface="+mn-lt"/>
                <a:cs typeface="+mn-lt"/>
              </a:rPr>
              <a:t>Financial commentary </a:t>
            </a:r>
            <a:endParaRPr lang="en-US"/>
          </a:p>
          <a:p>
            <a:r>
              <a:rPr lang="en-US" sz="1100">
                <a:solidFill>
                  <a:srgbClr val="2D3142"/>
                </a:solidFill>
                <a:ea typeface="+mn-lt"/>
                <a:cs typeface="+mn-lt"/>
              </a:rPr>
              <a:t>Credit strengths &amp; risks </a:t>
            </a:r>
            <a:endParaRPr lang="en-US"/>
          </a:p>
          <a:p>
            <a:r>
              <a:rPr lang="en-US" sz="1100">
                <a:solidFill>
                  <a:srgbClr val="2D3142"/>
                </a:solidFill>
                <a:ea typeface="+mn-lt"/>
                <a:cs typeface="+mn-lt"/>
              </a:rPr>
              <a:t>Collateral assessment </a:t>
            </a:r>
            <a:endParaRPr lang="en-US"/>
          </a:p>
          <a:p>
            <a:r>
              <a:rPr lang="en-US" sz="1100">
                <a:solidFill>
                  <a:srgbClr val="2D3142"/>
                </a:solidFill>
                <a:ea typeface="+mn-lt"/>
                <a:cs typeface="+mn-lt"/>
              </a:rPr>
              <a:t>Recommendation — APPROVE / DECLINE </a:t>
            </a:r>
            <a:endParaRPr lang="en-US"/>
          </a:p>
          <a:p>
            <a:pPr>
              <a:lnSpc>
                <a:spcPct val="100000"/>
              </a:lnSpc>
              <a:spcBef>
                <a:spcPts val="0"/>
              </a:spcBef>
              <a:buFont typeface="Arial,Sans-Serif" panose="020B0604020202020204" pitchFamily="34" charset="0"/>
            </a:pPr>
            <a:r>
              <a:rPr lang="en-US" sz="1100">
                <a:solidFill>
                  <a:srgbClr val="2D3142"/>
                </a:solidFill>
                <a:ea typeface="+mn-lt"/>
                <a:cs typeface="+mn-lt"/>
              </a:rPr>
              <a:t>Conditions precedent</a:t>
            </a:r>
            <a:endParaRPr lang="en-US">
              <a:ea typeface="+mn-lt"/>
              <a:cs typeface="+mn-lt"/>
            </a:endParaRPr>
          </a:p>
          <a:p>
            <a:endParaRPr lang="en-US" dirty="0"/>
          </a:p>
        </p:txBody>
      </p:sp>
      <p:sp>
        <p:nvSpPr>
          <p:cNvPr id="7" name="Text 8">
            <a:extLst>
              <a:ext uri="{FF2B5EF4-FFF2-40B4-BE49-F238E27FC236}">
                <a16:creationId xmlns:a16="http://schemas.microsoft.com/office/drawing/2014/main" id="{80289D97-60F9-7CD9-2849-4AE40A6E165A}"/>
              </a:ext>
            </a:extLst>
          </p:cNvPr>
          <p:cNvSpPr/>
          <p:nvPr/>
        </p:nvSpPr>
        <p:spPr>
          <a:xfrm>
            <a:off x="6324123" y="2369153"/>
            <a:ext cx="4070984" cy="274320"/>
          </a:xfrm>
          <a:prstGeom prst="rect">
            <a:avLst/>
          </a:prstGeom>
          <a:solidFill>
            <a:schemeClr val="tx1"/>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00" b="1" dirty="0">
                <a:solidFill>
                  <a:srgbClr val="8A96A8"/>
                </a:solidFill>
              </a:rPr>
              <a:t>Terminal output</a:t>
            </a:r>
            <a:endParaRPr lang="en-US" sz="900" dirty="0"/>
          </a:p>
        </p:txBody>
      </p:sp>
      <p:sp>
        <p:nvSpPr>
          <p:cNvPr id="8" name="Text 9">
            <a:extLst>
              <a:ext uri="{FF2B5EF4-FFF2-40B4-BE49-F238E27FC236}">
                <a16:creationId xmlns:a16="http://schemas.microsoft.com/office/drawing/2014/main" id="{A0B7C523-E9A4-6895-19D5-21B3FF876E19}"/>
              </a:ext>
            </a:extLst>
          </p:cNvPr>
          <p:cNvSpPr/>
          <p:nvPr/>
        </p:nvSpPr>
        <p:spPr>
          <a:xfrm>
            <a:off x="6321146" y="2644331"/>
            <a:ext cx="4069080" cy="1660565"/>
          </a:xfrm>
          <a:prstGeom prst="rect">
            <a:avLst/>
          </a:prstGeom>
          <a:solidFill>
            <a:schemeClr val="tx1"/>
          </a:solid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00" dirty="0">
                <a:solidFill>
                  <a:srgbClr val="A8D8A8"/>
                </a:solidFill>
                <a:latin typeface="Courier New" pitchFamily="34" charset="0"/>
                <a:ea typeface="Courier New" pitchFamily="34" charset="-122"/>
                <a:cs typeface="Courier New" pitchFamily="34" charset="-120"/>
              </a:rPr>
              <a:t>$ python generate_memo.py</a:t>
            </a:r>
            <a:endParaRPr lang="en-US" sz="900" dirty="0"/>
          </a:p>
          <a:p>
            <a:pPr marL="0" indent="0">
              <a:buNone/>
            </a:pPr>
            <a:r>
              <a:rPr lang="en-US" sz="900" dirty="0">
                <a:solidFill>
                  <a:srgbClr val="A8D8A8"/>
                </a:solidFill>
                <a:latin typeface="Courier New" pitchFamily="34" charset="0"/>
                <a:ea typeface="Courier New" pitchFamily="34" charset="-122"/>
                <a:cs typeface="Courier New" pitchFamily="34" charset="-120"/>
              </a:rPr>
              <a:t>FinServe Credit Memo Generator</a:t>
            </a:r>
            <a:endParaRPr lang="en-US" sz="900" dirty="0"/>
          </a:p>
          <a:p>
            <a:pPr marL="0" indent="0">
              <a:buNone/>
            </a:pPr>
            <a:r>
              <a:rPr lang="en-US" sz="900" dirty="0">
                <a:solidFill>
                  <a:srgbClr val="A8D8A8"/>
                </a:solidFill>
                <a:latin typeface="Courier New" pitchFamily="34" charset="0"/>
                <a:ea typeface="Courier New" pitchFamily="34" charset="-122"/>
                <a:cs typeface="Courier New" pitchFamily="34" charset="-120"/>
              </a:rPr>
              <a:t>================================</a:t>
            </a:r>
            <a:endParaRPr lang="en-US" sz="900" dirty="0"/>
          </a:p>
          <a:p>
            <a:pPr marL="0" indent="0">
              <a:buNone/>
            </a:pPr>
            <a:r>
              <a:rPr lang="en-US" sz="900" dirty="0">
                <a:solidFill>
                  <a:srgbClr val="A8D8A8"/>
                </a:solidFill>
                <a:latin typeface="Courier New" pitchFamily="34" charset="0"/>
                <a:ea typeface="Courier New" pitchFamily="34" charset="-122"/>
                <a:cs typeface="Courier New" pitchFamily="34" charset="-120"/>
              </a:rPr>
              <a:t>Loading client data...</a:t>
            </a:r>
            <a:endParaRPr lang="en-US" sz="900" dirty="0"/>
          </a:p>
          <a:p>
            <a:pPr marL="0" indent="0">
              <a:buNone/>
            </a:pPr>
            <a:r>
              <a:rPr lang="en-US" sz="900" dirty="0">
                <a:solidFill>
                  <a:srgbClr val="A8D8A8"/>
                </a:solidFill>
                <a:latin typeface="Courier New" pitchFamily="34" charset="0"/>
                <a:ea typeface="Courier New" pitchFamily="34" charset="-122"/>
                <a:cs typeface="Courier New" pitchFamily="34" charset="-120"/>
              </a:rPr>
              <a:t>Client: Horizon Logistics | APP-2024-00847</a:t>
            </a:r>
            <a:endParaRPr lang="en-US" sz="900" dirty="0"/>
          </a:p>
          <a:p>
            <a:pPr marL="0" indent="0">
              <a:buNone/>
            </a:pPr>
            <a:r>
              <a:rPr lang="en-US" sz="900" dirty="0">
                <a:solidFill>
                  <a:srgbClr val="A8D8A8"/>
                </a:solidFill>
                <a:latin typeface="Courier New" pitchFamily="34" charset="0"/>
                <a:ea typeface="Courier New" pitchFamily="34" charset="-122"/>
                <a:cs typeface="Courier New" pitchFamily="34" charset="-120"/>
              </a:rPr>
              <a:t>Calling Groq API (llama-3.3-70b)...</a:t>
            </a:r>
            <a:endParaRPr lang="en-US" sz="900" dirty="0"/>
          </a:p>
          <a:p>
            <a:pPr marL="0" indent="0">
              <a:buNone/>
            </a:pPr>
            <a:r>
              <a:rPr lang="en-US" sz="900" dirty="0">
                <a:solidFill>
                  <a:srgbClr val="A8D8A8"/>
                </a:solidFill>
                <a:latin typeface="Courier New" pitchFamily="34" charset="0"/>
                <a:ea typeface="Courier New" pitchFamily="34" charset="-122"/>
                <a:cs typeface="Courier New" pitchFamily="34" charset="-120"/>
              </a:rPr>
              <a:t>AI analysis complete.</a:t>
            </a:r>
            <a:endParaRPr lang="en-US" sz="900" dirty="0"/>
          </a:p>
          <a:p>
            <a:pPr marL="0" indent="0">
              <a:buNone/>
            </a:pPr>
            <a:r>
              <a:rPr lang="en-US" sz="900" dirty="0">
                <a:solidFill>
                  <a:srgbClr val="A8D8A8"/>
                </a:solidFill>
                <a:latin typeface="Courier New" pitchFamily="34" charset="0"/>
                <a:ea typeface="Courier New" pitchFamily="34" charset="-122"/>
                <a:cs typeface="Courier New" pitchFamily="34" charset="-120"/>
              </a:rPr>
              <a:t>Recommendation: APPROVE</a:t>
            </a:r>
            <a:endParaRPr lang="en-US" sz="900" dirty="0"/>
          </a:p>
          <a:p>
            <a:pPr marL="0" indent="0">
              <a:buNone/>
            </a:pPr>
            <a:r>
              <a:rPr lang="en-US" sz="900" dirty="0">
                <a:solidFill>
                  <a:srgbClr val="A8D8A8"/>
                </a:solidFill>
                <a:latin typeface="Courier New" pitchFamily="34" charset="0"/>
                <a:ea typeface="Courier New" pitchFamily="34" charset="-122"/>
                <a:cs typeface="Courier New" pitchFamily="34" charset="-120"/>
              </a:rPr>
              <a:t>Building Word document...</a:t>
            </a:r>
            <a:endParaRPr lang="en-US" sz="900" dirty="0"/>
          </a:p>
          <a:p>
            <a:pPr marL="0" indent="0">
              <a:buNone/>
            </a:pPr>
            <a:r>
              <a:rPr lang="en-US" sz="900" dirty="0">
                <a:solidFill>
                  <a:srgbClr val="A8D8A8"/>
                </a:solidFill>
                <a:latin typeface="Courier New" pitchFamily="34" charset="0"/>
                <a:ea typeface="Courier New" pitchFamily="34" charset="-122"/>
                <a:cs typeface="Courier New" pitchFamily="34" charset="-120"/>
              </a:rPr>
              <a:t>Saved: credit_memo_Horizon_Logistics.docx</a:t>
            </a:r>
            <a:endParaRPr lang="en-US" sz="900" dirty="0"/>
          </a:p>
          <a:p>
            <a:pPr marL="0" indent="0">
              <a:buNone/>
            </a:pPr>
            <a:r>
              <a:rPr lang="en-US" sz="900" dirty="0">
                <a:solidFill>
                  <a:srgbClr val="A8D8A8"/>
                </a:solidFill>
                <a:latin typeface="Courier New" pitchFamily="34" charset="0"/>
                <a:ea typeface="Courier New" pitchFamily="34" charset="-122"/>
                <a:cs typeface="Courier New" pitchFamily="34" charset="-120"/>
              </a:rPr>
              <a:t>Done!</a:t>
            </a:r>
            <a:endParaRPr lang="en-US" sz="900" dirty="0"/>
          </a:p>
        </p:txBody>
      </p:sp>
      <p:sp>
        <p:nvSpPr>
          <p:cNvPr id="9" name="Text 11">
            <a:extLst>
              <a:ext uri="{FF2B5EF4-FFF2-40B4-BE49-F238E27FC236}">
                <a16:creationId xmlns:a16="http://schemas.microsoft.com/office/drawing/2014/main" id="{85AD9436-D3CB-0010-4CB1-9093E428DD11}"/>
              </a:ext>
            </a:extLst>
          </p:cNvPr>
          <p:cNvSpPr/>
          <p:nvPr/>
        </p:nvSpPr>
        <p:spPr>
          <a:xfrm>
            <a:off x="6419374" y="4687443"/>
            <a:ext cx="402336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1E2761"/>
                </a:solidFill>
              </a:rPr>
              <a:t>Tech stack</a:t>
            </a:r>
            <a:endParaRPr lang="en-US" sz="1100" dirty="0"/>
          </a:p>
        </p:txBody>
      </p:sp>
      <p:sp>
        <p:nvSpPr>
          <p:cNvPr id="10" name="Text 12">
            <a:extLst>
              <a:ext uri="{FF2B5EF4-FFF2-40B4-BE49-F238E27FC236}">
                <a16:creationId xmlns:a16="http://schemas.microsoft.com/office/drawing/2014/main" id="{BCBF7D8A-8389-42AF-9683-F98EF9AA2887}"/>
              </a:ext>
            </a:extLst>
          </p:cNvPr>
          <p:cNvSpPr/>
          <p:nvPr/>
        </p:nvSpPr>
        <p:spPr>
          <a:xfrm>
            <a:off x="6419374" y="5034915"/>
            <a:ext cx="100584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dirty="0">
                <a:solidFill>
                  <a:srgbClr val="3A7BD5"/>
                </a:solidFill>
              </a:rPr>
              <a:t>Language:</a:t>
            </a:r>
            <a:endParaRPr lang="en-US" sz="1000" dirty="0"/>
          </a:p>
        </p:txBody>
      </p:sp>
      <p:sp>
        <p:nvSpPr>
          <p:cNvPr id="11" name="Text 13">
            <a:extLst>
              <a:ext uri="{FF2B5EF4-FFF2-40B4-BE49-F238E27FC236}">
                <a16:creationId xmlns:a16="http://schemas.microsoft.com/office/drawing/2014/main" id="{3C5CE72B-4D34-925D-F73C-581923923148}"/>
              </a:ext>
            </a:extLst>
          </p:cNvPr>
          <p:cNvSpPr/>
          <p:nvPr/>
        </p:nvSpPr>
        <p:spPr>
          <a:xfrm>
            <a:off x="7470934" y="5034915"/>
            <a:ext cx="301752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2D3142"/>
                </a:solidFill>
              </a:rPr>
              <a:t>Python 3</a:t>
            </a:r>
            <a:endParaRPr lang="en-US" sz="1000" dirty="0"/>
          </a:p>
        </p:txBody>
      </p:sp>
      <p:sp>
        <p:nvSpPr>
          <p:cNvPr id="12" name="Text 14">
            <a:extLst>
              <a:ext uri="{FF2B5EF4-FFF2-40B4-BE49-F238E27FC236}">
                <a16:creationId xmlns:a16="http://schemas.microsoft.com/office/drawing/2014/main" id="{83DCDE18-A7EE-5536-76F4-8AF16F9E4DBE}"/>
              </a:ext>
            </a:extLst>
          </p:cNvPr>
          <p:cNvSpPr/>
          <p:nvPr/>
        </p:nvSpPr>
        <p:spPr>
          <a:xfrm>
            <a:off x="6419374" y="5290947"/>
            <a:ext cx="100584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dirty="0">
                <a:solidFill>
                  <a:srgbClr val="3A7BD5"/>
                </a:solidFill>
              </a:rPr>
              <a:t>AI model:</a:t>
            </a:r>
            <a:endParaRPr lang="en-US" sz="1000" dirty="0"/>
          </a:p>
        </p:txBody>
      </p:sp>
      <p:sp>
        <p:nvSpPr>
          <p:cNvPr id="13" name="Text 15">
            <a:extLst>
              <a:ext uri="{FF2B5EF4-FFF2-40B4-BE49-F238E27FC236}">
                <a16:creationId xmlns:a16="http://schemas.microsoft.com/office/drawing/2014/main" id="{60CCB941-BE43-98FA-4514-0D8AD87C1A89}"/>
              </a:ext>
            </a:extLst>
          </p:cNvPr>
          <p:cNvSpPr/>
          <p:nvPr/>
        </p:nvSpPr>
        <p:spPr>
          <a:xfrm>
            <a:off x="7470934" y="5290947"/>
            <a:ext cx="301752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2D3142"/>
                </a:solidFill>
              </a:rPr>
              <a:t>Groq API — Llama 3.3 70B</a:t>
            </a:r>
            <a:endParaRPr lang="en-US" sz="1000" dirty="0"/>
          </a:p>
        </p:txBody>
      </p:sp>
      <p:sp>
        <p:nvSpPr>
          <p:cNvPr id="14" name="Text 16">
            <a:extLst>
              <a:ext uri="{FF2B5EF4-FFF2-40B4-BE49-F238E27FC236}">
                <a16:creationId xmlns:a16="http://schemas.microsoft.com/office/drawing/2014/main" id="{87232325-163B-4AD1-BEC6-9AC7B5A618C9}"/>
              </a:ext>
            </a:extLst>
          </p:cNvPr>
          <p:cNvSpPr/>
          <p:nvPr/>
        </p:nvSpPr>
        <p:spPr>
          <a:xfrm>
            <a:off x="6419374" y="5546979"/>
            <a:ext cx="100584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dirty="0">
                <a:solidFill>
                  <a:srgbClr val="3A7BD5"/>
                </a:solidFill>
              </a:rPr>
              <a:t>Output:</a:t>
            </a:r>
            <a:endParaRPr lang="en-US" sz="1000" dirty="0"/>
          </a:p>
        </p:txBody>
      </p:sp>
      <p:sp>
        <p:nvSpPr>
          <p:cNvPr id="15" name="Text 17">
            <a:extLst>
              <a:ext uri="{FF2B5EF4-FFF2-40B4-BE49-F238E27FC236}">
                <a16:creationId xmlns:a16="http://schemas.microsoft.com/office/drawing/2014/main" id="{9EFF0F7D-07D3-E486-459C-F67538F68500}"/>
              </a:ext>
            </a:extLst>
          </p:cNvPr>
          <p:cNvSpPr/>
          <p:nvPr/>
        </p:nvSpPr>
        <p:spPr>
          <a:xfrm>
            <a:off x="7470934" y="5546979"/>
            <a:ext cx="301752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2D3142"/>
                </a:solidFill>
              </a:rPr>
              <a:t>python-docx (.docx)</a:t>
            </a:r>
            <a:endParaRPr lang="en-US" sz="1000" dirty="0"/>
          </a:p>
        </p:txBody>
      </p:sp>
      <p:sp>
        <p:nvSpPr>
          <p:cNvPr id="16" name="Text 18">
            <a:extLst>
              <a:ext uri="{FF2B5EF4-FFF2-40B4-BE49-F238E27FC236}">
                <a16:creationId xmlns:a16="http://schemas.microsoft.com/office/drawing/2014/main" id="{5DE69D46-9B8E-BD31-BE3F-632375D37179}"/>
              </a:ext>
            </a:extLst>
          </p:cNvPr>
          <p:cNvSpPr/>
          <p:nvPr/>
        </p:nvSpPr>
        <p:spPr>
          <a:xfrm>
            <a:off x="6419374" y="5803011"/>
            <a:ext cx="100584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dirty="0">
                <a:solidFill>
                  <a:srgbClr val="3A7BD5"/>
                </a:solidFill>
              </a:rPr>
              <a:t>Data:</a:t>
            </a:r>
            <a:endParaRPr lang="en-US" sz="1000" dirty="0"/>
          </a:p>
        </p:txBody>
      </p:sp>
      <p:sp>
        <p:nvSpPr>
          <p:cNvPr id="17" name="Text 19">
            <a:extLst>
              <a:ext uri="{FF2B5EF4-FFF2-40B4-BE49-F238E27FC236}">
                <a16:creationId xmlns:a16="http://schemas.microsoft.com/office/drawing/2014/main" id="{6AA1EAD7-655D-AA33-C762-D54534A737B0}"/>
              </a:ext>
            </a:extLst>
          </p:cNvPr>
          <p:cNvSpPr/>
          <p:nvPr/>
        </p:nvSpPr>
        <p:spPr>
          <a:xfrm>
            <a:off x="7470934" y="5803011"/>
            <a:ext cx="301752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2D3142"/>
                </a:solidFill>
              </a:rPr>
              <a:t>Simulated JSON (3 sources)</a:t>
            </a:r>
            <a:endParaRPr lang="en-US" sz="1000" dirty="0"/>
          </a:p>
        </p:txBody>
      </p:sp>
    </p:spTree>
    <p:extLst>
      <p:ext uri="{BB962C8B-B14F-4D97-AF65-F5344CB8AC3E}">
        <p14:creationId xmlns:p14="http://schemas.microsoft.com/office/powerpoint/2010/main" val="3067487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91B82-C73F-8318-A871-111FC2EDD556}"/>
              </a:ext>
            </a:extLst>
          </p:cNvPr>
          <p:cNvSpPr>
            <a:spLocks noGrp="1"/>
          </p:cNvSpPr>
          <p:nvPr>
            <p:ph type="title"/>
          </p:nvPr>
        </p:nvSpPr>
        <p:spPr/>
        <p:txBody>
          <a:bodyPr>
            <a:normAutofit/>
          </a:bodyPr>
          <a:lstStyle/>
          <a:p>
            <a:r>
              <a:rPr lang="en-US" sz="3000" b="1" dirty="0"/>
              <a:t>How I'd extend it?</a:t>
            </a:r>
          </a:p>
        </p:txBody>
      </p:sp>
      <p:sp>
        <p:nvSpPr>
          <p:cNvPr id="20" name="Text 7">
            <a:extLst>
              <a:ext uri="{FF2B5EF4-FFF2-40B4-BE49-F238E27FC236}">
                <a16:creationId xmlns:a16="http://schemas.microsoft.com/office/drawing/2014/main" id="{EE70C7EB-94DF-46FD-ECA8-A69A381BEFA8}"/>
              </a:ext>
            </a:extLst>
          </p:cNvPr>
          <p:cNvSpPr/>
          <p:nvPr/>
        </p:nvSpPr>
        <p:spPr>
          <a:xfrm>
            <a:off x="975906" y="2693795"/>
            <a:ext cx="3840480"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2D3142"/>
                </a:solidFill>
              </a:rPr>
              <a:t>Live API integrations</a:t>
            </a:r>
            <a:endParaRPr lang="en-US" sz="1300" dirty="0"/>
          </a:p>
        </p:txBody>
      </p:sp>
      <p:sp>
        <p:nvSpPr>
          <p:cNvPr id="21" name="Text 8">
            <a:extLst>
              <a:ext uri="{FF2B5EF4-FFF2-40B4-BE49-F238E27FC236}">
                <a16:creationId xmlns:a16="http://schemas.microsoft.com/office/drawing/2014/main" id="{11A61EF3-2088-383E-A5B2-C7098F42556B}"/>
              </a:ext>
            </a:extLst>
          </p:cNvPr>
          <p:cNvSpPr/>
          <p:nvPr/>
        </p:nvSpPr>
        <p:spPr>
          <a:xfrm>
            <a:off x="975906" y="3022979"/>
            <a:ext cx="3840480" cy="91440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a:solidFill>
                  <a:srgbClr val="8A96A8"/>
                </a:solidFill>
              </a:rPr>
              <a:t>Replace the JSON file with real API calls to the CRM, core banking, and loan system. The data engineering layer handles auth, field mapping, and validation automatically.</a:t>
            </a:r>
            <a:endParaRPr lang="en-US" sz="1100" dirty="0"/>
          </a:p>
        </p:txBody>
      </p:sp>
      <p:sp>
        <p:nvSpPr>
          <p:cNvPr id="23" name="Text 12">
            <a:extLst>
              <a:ext uri="{FF2B5EF4-FFF2-40B4-BE49-F238E27FC236}">
                <a16:creationId xmlns:a16="http://schemas.microsoft.com/office/drawing/2014/main" id="{F5EA3A59-329F-8685-BA4E-A27FE6EB6CD3}"/>
              </a:ext>
            </a:extLst>
          </p:cNvPr>
          <p:cNvSpPr/>
          <p:nvPr/>
        </p:nvSpPr>
        <p:spPr>
          <a:xfrm>
            <a:off x="5365026" y="2693795"/>
            <a:ext cx="3840480"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2D3142"/>
                </a:solidFill>
              </a:rPr>
              <a:t>Human review workflow</a:t>
            </a:r>
            <a:endParaRPr lang="en-US" sz="1300" dirty="0"/>
          </a:p>
        </p:txBody>
      </p:sp>
      <p:sp>
        <p:nvSpPr>
          <p:cNvPr id="24" name="Text 13">
            <a:extLst>
              <a:ext uri="{FF2B5EF4-FFF2-40B4-BE49-F238E27FC236}">
                <a16:creationId xmlns:a16="http://schemas.microsoft.com/office/drawing/2014/main" id="{360C2968-FF42-A805-E7FF-305BA413C523}"/>
              </a:ext>
            </a:extLst>
          </p:cNvPr>
          <p:cNvSpPr/>
          <p:nvPr/>
        </p:nvSpPr>
        <p:spPr>
          <a:xfrm>
            <a:off x="5365026" y="3022979"/>
            <a:ext cx="3840480" cy="91440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a:solidFill>
                  <a:srgbClr val="8A96A8"/>
                </a:solidFill>
              </a:rPr>
              <a:t>Add a web UI where analysts receive the draft memo, can edit sections, and submit for approval — building a proper human-in-the-loop process.</a:t>
            </a:r>
            <a:endParaRPr lang="en-US" sz="1100" dirty="0"/>
          </a:p>
        </p:txBody>
      </p:sp>
      <p:sp>
        <p:nvSpPr>
          <p:cNvPr id="26" name="Text 17">
            <a:extLst>
              <a:ext uri="{FF2B5EF4-FFF2-40B4-BE49-F238E27FC236}">
                <a16:creationId xmlns:a16="http://schemas.microsoft.com/office/drawing/2014/main" id="{49AF0E4D-4B55-9832-1FE0-0FBD1A3C32C8}"/>
              </a:ext>
            </a:extLst>
          </p:cNvPr>
          <p:cNvSpPr/>
          <p:nvPr/>
        </p:nvSpPr>
        <p:spPr>
          <a:xfrm>
            <a:off x="975906" y="4568315"/>
            <a:ext cx="3840480"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2D3142"/>
                </a:solidFill>
              </a:rPr>
              <a:t>Feedback loop</a:t>
            </a:r>
            <a:endParaRPr lang="en-US" sz="1300" dirty="0"/>
          </a:p>
        </p:txBody>
      </p:sp>
      <p:sp>
        <p:nvSpPr>
          <p:cNvPr id="27" name="Text 18">
            <a:extLst>
              <a:ext uri="{FF2B5EF4-FFF2-40B4-BE49-F238E27FC236}">
                <a16:creationId xmlns:a16="http://schemas.microsoft.com/office/drawing/2014/main" id="{767F432A-D9F3-D531-9A5F-93264E8F23A9}"/>
              </a:ext>
            </a:extLst>
          </p:cNvPr>
          <p:cNvSpPr/>
          <p:nvPr/>
        </p:nvSpPr>
        <p:spPr>
          <a:xfrm>
            <a:off x="975906" y="4897499"/>
            <a:ext cx="3840480" cy="91440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a:solidFill>
                  <a:srgbClr val="8A96A8"/>
                </a:solidFill>
              </a:rPr>
              <a:t>Track which AI recommendations the committee accepts or overrides. Use that signal to fine-tune the prompt and improve accuracy over time.</a:t>
            </a:r>
            <a:endParaRPr lang="en-US" sz="1100" dirty="0"/>
          </a:p>
        </p:txBody>
      </p:sp>
      <p:sp>
        <p:nvSpPr>
          <p:cNvPr id="29" name="Text 22">
            <a:extLst>
              <a:ext uri="{FF2B5EF4-FFF2-40B4-BE49-F238E27FC236}">
                <a16:creationId xmlns:a16="http://schemas.microsoft.com/office/drawing/2014/main" id="{7F60950B-2BB7-9540-25AA-669C46CF62BF}"/>
              </a:ext>
            </a:extLst>
          </p:cNvPr>
          <p:cNvSpPr/>
          <p:nvPr/>
        </p:nvSpPr>
        <p:spPr>
          <a:xfrm>
            <a:off x="5365026" y="4568315"/>
            <a:ext cx="3840480"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2D3142"/>
                </a:solidFill>
              </a:rPr>
              <a:t>Expand to all 3 problems</a:t>
            </a:r>
            <a:endParaRPr lang="en-US" sz="1300" dirty="0"/>
          </a:p>
        </p:txBody>
      </p:sp>
      <p:sp>
        <p:nvSpPr>
          <p:cNvPr id="30" name="Text 23">
            <a:extLst>
              <a:ext uri="{FF2B5EF4-FFF2-40B4-BE49-F238E27FC236}">
                <a16:creationId xmlns:a16="http://schemas.microsoft.com/office/drawing/2014/main" id="{46837361-5766-1488-1090-305729AD25C4}"/>
              </a:ext>
            </a:extLst>
          </p:cNvPr>
          <p:cNvSpPr/>
          <p:nvPr/>
        </p:nvSpPr>
        <p:spPr>
          <a:xfrm>
            <a:off x="5365026" y="4897499"/>
            <a:ext cx="3840480" cy="91440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a:solidFill>
                  <a:srgbClr val="8A96A8"/>
                </a:solidFill>
              </a:rPr>
              <a:t>Deploy the same architecture for support triage and portfolio reporting — a unified AI layer serving Credit, Support, and Finance departments from one platform.</a:t>
            </a:r>
            <a:endParaRPr lang="en-US" sz="1100" dirty="0"/>
          </a:p>
        </p:txBody>
      </p:sp>
    </p:spTree>
    <p:extLst>
      <p:ext uri="{BB962C8B-B14F-4D97-AF65-F5344CB8AC3E}">
        <p14:creationId xmlns:p14="http://schemas.microsoft.com/office/powerpoint/2010/main" val="2990685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2A50B-6574-3830-6527-E9F15645FDEC}"/>
              </a:ext>
            </a:extLst>
          </p:cNvPr>
          <p:cNvSpPr>
            <a:spLocks noGrp="1"/>
          </p:cNvSpPr>
          <p:nvPr>
            <p:ph type="title"/>
          </p:nvPr>
        </p:nvSpPr>
        <p:spPr/>
        <p:txBody>
          <a:bodyPr/>
          <a:lstStyle/>
          <a:p>
            <a:r>
              <a:rPr lang="en-US" sz="3000" b="1" dirty="0"/>
              <a:t>Summary </a:t>
            </a:r>
            <a:r>
              <a:rPr lang="en-US" sz="3000"/>
              <a:t>– 3 problems. 3PoCs. All working</a:t>
            </a:r>
          </a:p>
        </p:txBody>
      </p:sp>
      <p:sp>
        <p:nvSpPr>
          <p:cNvPr id="15" name="Text 4">
            <a:extLst>
              <a:ext uri="{FF2B5EF4-FFF2-40B4-BE49-F238E27FC236}">
                <a16:creationId xmlns:a16="http://schemas.microsoft.com/office/drawing/2014/main" id="{E97FED47-E6EB-2B56-1A07-B5329612B576}"/>
              </a:ext>
            </a:extLst>
          </p:cNvPr>
          <p:cNvSpPr/>
          <p:nvPr/>
        </p:nvSpPr>
        <p:spPr>
          <a:xfrm>
            <a:off x="1545472" y="2910886"/>
            <a:ext cx="1587689" cy="38159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dirty="0">
                <a:solidFill>
                  <a:srgbClr val="3A7BD5"/>
                </a:solidFill>
              </a:rPr>
              <a:t>Problem 1</a:t>
            </a:r>
            <a:endParaRPr lang="en-US" sz="1500" dirty="0"/>
          </a:p>
        </p:txBody>
      </p:sp>
      <p:sp>
        <p:nvSpPr>
          <p:cNvPr id="16" name="Text 5">
            <a:extLst>
              <a:ext uri="{FF2B5EF4-FFF2-40B4-BE49-F238E27FC236}">
                <a16:creationId xmlns:a16="http://schemas.microsoft.com/office/drawing/2014/main" id="{8E48504A-3970-0111-8F8F-46AC0542108B}"/>
              </a:ext>
            </a:extLst>
          </p:cNvPr>
          <p:cNvSpPr/>
          <p:nvPr/>
        </p:nvSpPr>
        <p:spPr>
          <a:xfrm>
            <a:off x="2898784" y="2910886"/>
            <a:ext cx="7721448" cy="38159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dirty="0">
                <a:solidFill>
                  <a:srgbClr val="00B0F0"/>
                </a:solidFill>
              </a:rPr>
              <a:t>Credit Memo Generator   →   credit_memo.docx</a:t>
            </a:r>
            <a:endParaRPr lang="en-US" sz="1500">
              <a:solidFill>
                <a:srgbClr val="00B0F0"/>
              </a:solidFill>
            </a:endParaRPr>
          </a:p>
        </p:txBody>
      </p:sp>
      <p:sp>
        <p:nvSpPr>
          <p:cNvPr id="17" name="Text 7">
            <a:extLst>
              <a:ext uri="{FF2B5EF4-FFF2-40B4-BE49-F238E27FC236}">
                <a16:creationId xmlns:a16="http://schemas.microsoft.com/office/drawing/2014/main" id="{99E325A3-EB5B-CE7A-2568-21621494229F}"/>
              </a:ext>
            </a:extLst>
          </p:cNvPr>
          <p:cNvSpPr/>
          <p:nvPr/>
        </p:nvSpPr>
        <p:spPr>
          <a:xfrm>
            <a:off x="1545472" y="3569254"/>
            <a:ext cx="1587689" cy="38159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dirty="0">
                <a:solidFill>
                  <a:srgbClr val="0D9488"/>
                </a:solidFill>
              </a:rPr>
              <a:t>Problem 2</a:t>
            </a:r>
            <a:endParaRPr lang="en-US" sz="1500" dirty="0"/>
          </a:p>
        </p:txBody>
      </p:sp>
      <p:sp>
        <p:nvSpPr>
          <p:cNvPr id="18" name="Text 8">
            <a:extLst>
              <a:ext uri="{FF2B5EF4-FFF2-40B4-BE49-F238E27FC236}">
                <a16:creationId xmlns:a16="http://schemas.microsoft.com/office/drawing/2014/main" id="{FD61B763-F6CC-C208-DA9E-BA136A0AE13E}"/>
              </a:ext>
            </a:extLst>
          </p:cNvPr>
          <p:cNvSpPr/>
          <p:nvPr/>
        </p:nvSpPr>
        <p:spPr>
          <a:xfrm>
            <a:off x="2898784" y="3569254"/>
            <a:ext cx="7721448" cy="38159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dirty="0">
                <a:solidFill>
                  <a:srgbClr val="00B0F0"/>
                </a:solidFill>
              </a:rPr>
              <a:t>Support Ticket Triage   →   terminal report</a:t>
            </a:r>
          </a:p>
        </p:txBody>
      </p:sp>
      <p:sp>
        <p:nvSpPr>
          <p:cNvPr id="19" name="Text 10">
            <a:extLst>
              <a:ext uri="{FF2B5EF4-FFF2-40B4-BE49-F238E27FC236}">
                <a16:creationId xmlns:a16="http://schemas.microsoft.com/office/drawing/2014/main" id="{A32F386D-6507-0BB2-22E8-9C31CBA93D3C}"/>
              </a:ext>
            </a:extLst>
          </p:cNvPr>
          <p:cNvSpPr/>
          <p:nvPr/>
        </p:nvSpPr>
        <p:spPr>
          <a:xfrm>
            <a:off x="1545472" y="4227622"/>
            <a:ext cx="1587689" cy="38159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dirty="0">
                <a:solidFill>
                  <a:srgbClr val="7C3AED"/>
                </a:solidFill>
              </a:rPr>
              <a:t>Problem 3</a:t>
            </a:r>
            <a:endParaRPr lang="en-US" sz="1500" dirty="0"/>
          </a:p>
        </p:txBody>
      </p:sp>
      <p:sp>
        <p:nvSpPr>
          <p:cNvPr id="20" name="Text 11">
            <a:extLst>
              <a:ext uri="{FF2B5EF4-FFF2-40B4-BE49-F238E27FC236}">
                <a16:creationId xmlns:a16="http://schemas.microsoft.com/office/drawing/2014/main" id="{9BB6A06B-88A6-EFFF-3254-00D0EE5FF431}"/>
              </a:ext>
            </a:extLst>
          </p:cNvPr>
          <p:cNvSpPr/>
          <p:nvPr/>
        </p:nvSpPr>
        <p:spPr>
          <a:xfrm>
            <a:off x="2898784" y="4227622"/>
            <a:ext cx="7721448" cy="38159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dirty="0">
                <a:solidFill>
                  <a:srgbClr val="00B0F0"/>
                </a:solidFill>
              </a:rPr>
              <a:t>Portfolio Report        →   monthly_report.docx</a:t>
            </a:r>
            <a:endParaRPr lang="en-US" sz="1500">
              <a:solidFill>
                <a:srgbClr val="00B0F0"/>
              </a:solidFill>
            </a:endParaRPr>
          </a:p>
        </p:txBody>
      </p:sp>
      <p:sp>
        <p:nvSpPr>
          <p:cNvPr id="21" name="Text 12">
            <a:extLst>
              <a:ext uri="{FF2B5EF4-FFF2-40B4-BE49-F238E27FC236}">
                <a16:creationId xmlns:a16="http://schemas.microsoft.com/office/drawing/2014/main" id="{4127C1DF-3BD2-ED5D-B221-EA1C32410F49}"/>
              </a:ext>
            </a:extLst>
          </p:cNvPr>
          <p:cNvSpPr/>
          <p:nvPr/>
        </p:nvSpPr>
        <p:spPr>
          <a:xfrm>
            <a:off x="491319" y="5777553"/>
            <a:ext cx="9514764" cy="354159"/>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dirty="0">
                <a:solidFill>
                  <a:srgbClr val="8A96A8"/>
                </a:solidFill>
              </a:rPr>
              <a:t>Built with Python · </a:t>
            </a:r>
            <a:r>
              <a:rPr lang="en-US" sz="1300" dirty="0" err="1">
                <a:solidFill>
                  <a:srgbClr val="8A96A8"/>
                </a:solidFill>
              </a:rPr>
              <a:t>Groq</a:t>
            </a:r>
            <a:r>
              <a:rPr lang="en-US" sz="1300" dirty="0">
                <a:solidFill>
                  <a:srgbClr val="8A96A8"/>
                </a:solidFill>
              </a:rPr>
              <a:t> API (Llama 3) · python-docx · GitHub</a:t>
            </a:r>
            <a:endParaRPr lang="en-US" sz="1300"/>
          </a:p>
        </p:txBody>
      </p:sp>
    </p:spTree>
    <p:extLst>
      <p:ext uri="{BB962C8B-B14F-4D97-AF65-F5344CB8AC3E}">
        <p14:creationId xmlns:p14="http://schemas.microsoft.com/office/powerpoint/2010/main" val="1772416071"/>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AccentBoxVTI</vt:lpstr>
      <vt:lpstr>Finserve – AI Automation Assessment</vt:lpstr>
      <vt:lpstr>Overview</vt:lpstr>
      <vt:lpstr>Problem 01 - AI credit Memo Generator</vt:lpstr>
      <vt:lpstr>Problem 02 – Unstructured Support Ticket Handling</vt:lpstr>
      <vt:lpstr>Problem 03 – Manual Reporting &amp; Data Consolidation</vt:lpstr>
      <vt:lpstr>Why I built Problem 1</vt:lpstr>
      <vt:lpstr>How it works - Architecture</vt:lpstr>
      <vt:lpstr>What tool produces</vt:lpstr>
      <vt:lpstr>How I'd extend it?</vt:lpstr>
      <vt:lpstr>Summary – 3 problems. 3PoCs. All working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398</cp:revision>
  <dcterms:created xsi:type="dcterms:W3CDTF">2026-03-23T21:49:52Z</dcterms:created>
  <dcterms:modified xsi:type="dcterms:W3CDTF">2026-03-24T02:22:40Z</dcterms:modified>
</cp:coreProperties>
</file>